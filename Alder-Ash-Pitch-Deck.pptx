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majority of local businesses we've surveyed have websites that are 5+ years old, not mobile-optimized, and lack any lead capture. This is costing them real revenue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service can be sold individually or as part of a package. The real power is in combining them — a great website with AI chatbot and automated follow-ups creates a full lead generation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Growth tier is our sweet spot — most clients start here. Monthly retainers provide recurring revenue and keep us engaged with clients long-term. Average client lifetime value is projected at $8,000-$12,000.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our key differentiator. Most local web agencies build static sites. We build intelligent systems that actively generate and nurture leads. The stats shown are industry averages for businesses that adopt AI chat and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streamlined process means faster delivery than traditional agencies. The 2-4 week timeline is a major selling point for busy local business owners who need results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Hudson Valley is experiencing significant growth with new businesses opening regularly. Many existing businesses are recognizing the need to modernize but don't know where to start. We're positioned as the local, accessible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competitive advantage: no one else in the Hudson Valley is offering AI integration as a standard part of their web packages at this price point. Big agencies charge $10K+ just for the chatbot add-on.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all about proving the model with 10 local clients and building a strong portfolio of case studies. Referrals from satisfied clients will be the primary growth engine in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beauty of this model: every new project client becomes a recurring retainer client. By Year 2, retainer revenue alone could be $60K-$90K annually, creating a stable revenue floor while project work drives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photography background is a genuine differentiator — it means Liam has worked directly with dozens of local service businesses and understands their challenges firsthand. This isn't just tech expertise; it's domain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4A30"/>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C4892A"/>
          </a:solidFill>
          <a:ln/>
        </p:spPr>
      </p:sp>
      <p:sp>
        <p:nvSpPr>
          <p:cNvPr id="3" name="Shape 1"/>
          <p:cNvSpPr/>
          <p:nvPr/>
        </p:nvSpPr>
        <p:spPr>
          <a:xfrm>
            <a:off x="548640" y="4389120"/>
            <a:ext cx="2743200" cy="36576"/>
          </a:xfrm>
          <a:prstGeom prst="rect">
            <a:avLst/>
          </a:prstGeom>
          <a:solidFill>
            <a:srgbClr val="C4892A"/>
          </a:solidFill>
          <a:ln/>
        </p:spPr>
      </p:sp>
      <p:sp>
        <p:nvSpPr>
          <p:cNvPr id="4" name="Text 2"/>
          <p:cNvSpPr/>
          <p:nvPr/>
        </p:nvSpPr>
        <p:spPr>
          <a:xfrm>
            <a:off x="548640" y="1097280"/>
            <a:ext cx="8229600" cy="1005840"/>
          </a:xfrm>
          <a:prstGeom prst="rect">
            <a:avLst/>
          </a:prstGeom>
          <a:noFill/>
          <a:ln/>
        </p:spPr>
        <p:txBody>
          <a:bodyPr wrap="square" lIns="0" tIns="0" rIns="0" bIns="0" rtlCol="0" anchor="ctr"/>
          <a:lstStyle/>
          <a:p>
            <a:pPr indent="0" marL="0">
              <a:buNone/>
            </a:pPr>
            <a:r>
              <a:rPr lang="en-US" sz="5200" b="1" spc="400" kern="0" dirty="0">
                <a:solidFill>
                  <a:srgbClr val="F7F2E8"/>
                </a:solidFill>
                <a:latin typeface="Georgia" pitchFamily="34" charset="0"/>
                <a:ea typeface="Georgia" pitchFamily="34" charset="-122"/>
                <a:cs typeface="Georgia" pitchFamily="34" charset="-120"/>
              </a:rPr>
              <a:t>ALDER &amp; ASH</a:t>
            </a:r>
            <a:endParaRPr lang="en-US" sz="5200" dirty="0"/>
          </a:p>
        </p:txBody>
      </p:sp>
      <p:sp>
        <p:nvSpPr>
          <p:cNvPr id="5" name="Text 3"/>
          <p:cNvSpPr/>
          <p:nvPr/>
        </p:nvSpPr>
        <p:spPr>
          <a:xfrm>
            <a:off x="548640" y="1920240"/>
            <a:ext cx="8229600" cy="731520"/>
          </a:xfrm>
          <a:prstGeom prst="rect">
            <a:avLst/>
          </a:prstGeom>
          <a:noFill/>
          <a:ln/>
        </p:spPr>
        <p:txBody>
          <a:bodyPr wrap="square" lIns="0" tIns="0" rIns="0" bIns="0" rtlCol="0" anchor="ctr"/>
          <a:lstStyle/>
          <a:p>
            <a:pPr indent="0" marL="0">
              <a:buNone/>
            </a:pPr>
            <a:r>
              <a:rPr lang="en-US" sz="4200" spc="600" kern="0" dirty="0">
                <a:solidFill>
                  <a:srgbClr val="C4892A"/>
                </a:solidFill>
                <a:latin typeface="Georgia" pitchFamily="34" charset="0"/>
                <a:ea typeface="Georgia" pitchFamily="34" charset="-122"/>
                <a:cs typeface="Georgia" pitchFamily="34" charset="-120"/>
              </a:rPr>
              <a:t>DIGITAL</a:t>
            </a:r>
            <a:endParaRPr lang="en-US" sz="4200" dirty="0"/>
          </a:p>
        </p:txBody>
      </p:sp>
      <p:sp>
        <p:nvSpPr>
          <p:cNvPr id="6" name="Text 4"/>
          <p:cNvSpPr/>
          <p:nvPr/>
        </p:nvSpPr>
        <p:spPr>
          <a:xfrm>
            <a:off x="548640" y="2926080"/>
            <a:ext cx="5486400" cy="640080"/>
          </a:xfrm>
          <a:prstGeom prst="rect">
            <a:avLst/>
          </a:prstGeom>
          <a:noFill/>
          <a:ln/>
        </p:spPr>
        <p:txBody>
          <a:bodyPr wrap="square" lIns="0" tIns="0" rIns="0" bIns="0" rtlCol="0" anchor="ctr"/>
          <a:lstStyle/>
          <a:p>
            <a:pPr indent="0" marL="0">
              <a:buNone/>
            </a:pPr>
            <a:r>
              <a:rPr lang="en-US" sz="1600" i="1" dirty="0">
                <a:solidFill>
                  <a:srgbClr val="F7F2E8"/>
                </a:solidFill>
                <a:latin typeface="Calibri" pitchFamily="34" charset="0"/>
                <a:ea typeface="Calibri" pitchFamily="34" charset="-122"/>
                <a:cs typeface="Calibri" pitchFamily="34" charset="-120"/>
              </a:rPr>
              <a:t>Web Design &amp; AI Automation for Hudson Valley Businesses</a:t>
            </a:r>
            <a:endParaRPr lang="en-US" sz="1600" dirty="0"/>
          </a:p>
        </p:txBody>
      </p:sp>
      <p:pic>
        <p:nvPicPr>
          <p:cNvPr id="7" name="Image 0" descr="preencoded.png">    </p:cNvPr>
          <p:cNvPicPr>
            <a:picLocks noChangeAspect="1"/>
          </p:cNvPicPr>
          <p:nvPr/>
        </p:nvPicPr>
        <p:blipFill>
          <a:blip r:embed="rId1"/>
          <a:stretch>
            <a:fillRect/>
          </a:stretch>
        </p:blipFill>
        <p:spPr>
          <a:xfrm>
            <a:off x="7132320" y="731520"/>
            <a:ext cx="548640" cy="548640"/>
          </a:xfrm>
          <a:prstGeom prst="rect">
            <a:avLst/>
          </a:prstGeom>
        </p:spPr>
      </p:pic>
      <p:pic>
        <p:nvPicPr>
          <p:cNvPr id="8" name="Image 1" descr="preencoded.png">    </p:cNvPr>
          <p:cNvPicPr>
            <a:picLocks noChangeAspect="1"/>
          </p:cNvPicPr>
          <p:nvPr/>
        </p:nvPicPr>
        <p:blipFill>
          <a:blip r:embed="rId2"/>
          <a:stretch>
            <a:fillRect/>
          </a:stretch>
        </p:blipFill>
        <p:spPr>
          <a:xfrm>
            <a:off x="7863840" y="1188720"/>
            <a:ext cx="548640" cy="548640"/>
          </a:xfrm>
          <a:prstGeom prst="rect">
            <a:avLst/>
          </a:prstGeom>
        </p:spPr>
      </p:pic>
      <p:pic>
        <p:nvPicPr>
          <p:cNvPr id="9" name="Image 2" descr="preencoded.png">    </p:cNvPr>
          <p:cNvPicPr>
            <a:picLocks noChangeAspect="1"/>
          </p:cNvPicPr>
          <p:nvPr/>
        </p:nvPicPr>
        <p:blipFill>
          <a:blip r:embed="rId3"/>
          <a:stretch>
            <a:fillRect/>
          </a:stretch>
        </p:blipFill>
        <p:spPr>
          <a:xfrm>
            <a:off x="7498080" y="1828800"/>
            <a:ext cx="457200" cy="457200"/>
          </a:xfrm>
          <a:prstGeom prst="rect">
            <a:avLst/>
          </a:prstGeom>
        </p:spPr>
      </p:pic>
      <p:sp>
        <p:nvSpPr>
          <p:cNvPr id="10" name="Text 5"/>
          <p:cNvSpPr/>
          <p:nvPr/>
        </p:nvSpPr>
        <p:spPr>
          <a:xfrm>
            <a:off x="548640" y="3931920"/>
            <a:ext cx="1828800" cy="365760"/>
          </a:xfrm>
          <a:prstGeom prst="rect">
            <a:avLst/>
          </a:prstGeom>
          <a:noFill/>
          <a:ln/>
        </p:spPr>
        <p:txBody>
          <a:bodyPr wrap="square" lIns="0" tIns="0" rIns="0" bIns="0" rtlCol="0" anchor="ctr"/>
          <a:lstStyle/>
          <a:p>
            <a:pPr indent="0" marL="0">
              <a:buNone/>
            </a:pPr>
            <a:r>
              <a:rPr lang="en-US" sz="1100" dirty="0">
                <a:solidFill>
                  <a:srgbClr val="F7F2E8"/>
                </a:solidFill>
                <a:latin typeface="Calibri" pitchFamily="34" charset="0"/>
                <a:ea typeface="Calibri" pitchFamily="34" charset="-122"/>
                <a:cs typeface="Calibri" pitchFamily="34" charset="-120"/>
              </a:rPr>
              <a:t>Q2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48640" y="365760"/>
            <a:ext cx="3657600" cy="457200"/>
          </a:xfrm>
          <a:prstGeom prst="rect">
            <a:avLst/>
          </a:prstGeom>
          <a:noFill/>
          <a:ln/>
        </p:spPr>
        <p:txBody>
          <a:bodyPr wrap="square" lIns="0" tIns="0" rIns="0" bIns="0" rtlCol="0" anchor="ctr"/>
          <a:lstStyle/>
          <a:p>
            <a:pPr indent="0" marL="0">
              <a:buNone/>
            </a:pPr>
            <a:r>
              <a:rPr lang="en-US" sz="1200" b="1" spc="300" kern="0" dirty="0">
                <a:solidFill>
                  <a:srgbClr val="C4892A"/>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822960"/>
            <a:ext cx="7772400" cy="914400"/>
          </a:xfrm>
          <a:prstGeom prst="rect">
            <a:avLst/>
          </a:prstGeom>
          <a:noFill/>
          <a:ln/>
        </p:spPr>
        <p:txBody>
          <a:bodyPr wrap="square" lIns="0" tIns="0" rIns="0" bIns="0" rtlCol="0" anchor="ctr"/>
          <a:lstStyle/>
          <a:p>
            <a:pPr indent="0" marL="0">
              <a:buNone/>
            </a:pPr>
            <a:r>
              <a:rPr lang="en-US" sz="3200" b="1" dirty="0">
                <a:solidFill>
                  <a:srgbClr val="232823"/>
                </a:solidFill>
                <a:latin typeface="Georgia" pitchFamily="34" charset="0"/>
                <a:ea typeface="Georgia" pitchFamily="34" charset="-122"/>
                <a:cs typeface="Georgia" pitchFamily="34" charset="-120"/>
              </a:rPr>
              <a:t>Local Businesses Are Losing</a:t>
            </a:r>
            <a:endParaRPr lang="en-US" sz="3200" dirty="0"/>
          </a:p>
          <a:p>
            <a:pPr indent="0" marL="0">
              <a:buNone/>
            </a:pPr>
            <a:r>
              <a:rPr lang="en-US" sz="3200" b="1" dirty="0">
                <a:solidFill>
                  <a:srgbClr val="232823"/>
                </a:solidFill>
                <a:latin typeface="Georgia" pitchFamily="34" charset="0"/>
                <a:ea typeface="Georgia" pitchFamily="34" charset="-122"/>
                <a:cs typeface="Georgia" pitchFamily="34" charset="-120"/>
              </a:rPr>
              <a:t>Customers Every Day</a:t>
            </a:r>
            <a:endParaRPr lang="en-US" sz="3200" dirty="0"/>
          </a:p>
        </p:txBody>
      </p:sp>
      <p:sp>
        <p:nvSpPr>
          <p:cNvPr id="4" name="Shape 2"/>
          <p:cNvSpPr/>
          <p:nvPr/>
        </p:nvSpPr>
        <p:spPr>
          <a:xfrm>
            <a:off x="548640" y="2103120"/>
            <a:ext cx="3794760" cy="2194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2103120"/>
            <a:ext cx="3794760" cy="54864"/>
          </a:xfrm>
          <a:prstGeom prst="rect">
            <a:avLst/>
          </a:prstGeom>
          <a:solidFill>
            <a:srgbClr val="C4892A"/>
          </a:solidFill>
          <a:ln/>
        </p:spPr>
      </p:sp>
      <p:sp>
        <p:nvSpPr>
          <p:cNvPr id="6" name="Text 4"/>
          <p:cNvSpPr/>
          <p:nvPr/>
        </p:nvSpPr>
        <p:spPr>
          <a:xfrm>
            <a:off x="548640" y="2331720"/>
            <a:ext cx="3794760" cy="822960"/>
          </a:xfrm>
          <a:prstGeom prst="rect">
            <a:avLst/>
          </a:prstGeom>
          <a:noFill/>
          <a:ln/>
        </p:spPr>
        <p:txBody>
          <a:bodyPr wrap="square" lIns="0" tIns="0" rIns="0" bIns="0" rtlCol="0" anchor="ctr"/>
          <a:lstStyle/>
          <a:p>
            <a:pPr algn="ctr" indent="0" marL="0">
              <a:buNone/>
            </a:pPr>
            <a:r>
              <a:rPr lang="en-US" sz="6000" b="1" dirty="0">
                <a:solidFill>
                  <a:srgbClr val="2A4A30"/>
                </a:solidFill>
                <a:latin typeface="Georgia" pitchFamily="34" charset="0"/>
                <a:ea typeface="Georgia" pitchFamily="34" charset="-122"/>
                <a:cs typeface="Georgia" pitchFamily="34" charset="-120"/>
              </a:rPr>
              <a:t>75%</a:t>
            </a:r>
            <a:endParaRPr lang="en-US" sz="6000" dirty="0"/>
          </a:p>
        </p:txBody>
      </p:sp>
      <p:sp>
        <p:nvSpPr>
          <p:cNvPr id="7" name="Text 5"/>
          <p:cNvSpPr/>
          <p:nvPr/>
        </p:nvSpPr>
        <p:spPr>
          <a:xfrm>
            <a:off x="914400" y="3154680"/>
            <a:ext cx="3063240" cy="822960"/>
          </a:xfrm>
          <a:prstGeom prst="rect">
            <a:avLst/>
          </a:prstGeom>
          <a:noFill/>
          <a:ln/>
        </p:spPr>
        <p:txBody>
          <a:bodyPr wrap="square" lIns="0" tIns="0" rIns="0" bIns="0" rtlCol="0" anchor="ctr"/>
          <a:lstStyle/>
          <a:p>
            <a:pPr algn="ctr" indent="0" marL="0">
              <a:buNone/>
            </a:pPr>
            <a:r>
              <a:rPr lang="en-US" sz="1400" dirty="0">
                <a:solidFill>
                  <a:srgbClr val="232823"/>
                </a:solidFill>
                <a:latin typeface="Calibri" pitchFamily="34" charset="0"/>
                <a:ea typeface="Calibri" pitchFamily="34" charset="-122"/>
                <a:cs typeface="Calibri" pitchFamily="34" charset="-120"/>
              </a:rPr>
              <a:t>of consumers judge a company's</a:t>
            </a:r>
            <a:endParaRPr lang="en-US" sz="1400" dirty="0"/>
          </a:p>
          <a:p>
            <a:pPr algn="ctr" indent="0" marL="0">
              <a:buNone/>
            </a:pPr>
            <a:r>
              <a:rPr lang="en-US" sz="1400" dirty="0">
                <a:solidFill>
                  <a:srgbClr val="232823"/>
                </a:solidFill>
                <a:latin typeface="Calibri" pitchFamily="34" charset="0"/>
                <a:ea typeface="Calibri" pitchFamily="34" charset="-122"/>
                <a:cs typeface="Calibri" pitchFamily="34" charset="-120"/>
              </a:rPr>
              <a:t>credibility by its website design</a:t>
            </a:r>
            <a:endParaRPr lang="en-US" sz="1400" dirty="0"/>
          </a:p>
        </p:txBody>
      </p:sp>
      <p:sp>
        <p:nvSpPr>
          <p:cNvPr id="8" name="Text 6"/>
          <p:cNvSpPr/>
          <p:nvPr/>
        </p:nvSpPr>
        <p:spPr>
          <a:xfrm>
            <a:off x="914400" y="3840480"/>
            <a:ext cx="3063240" cy="320040"/>
          </a:xfrm>
          <a:prstGeom prst="rect">
            <a:avLst/>
          </a:prstGeom>
          <a:noFill/>
          <a:ln/>
        </p:spPr>
        <p:txBody>
          <a:bodyPr wrap="square" lIns="0" tIns="0" rIns="0" bIns="0" rtlCol="0" anchor="ctr"/>
          <a:lstStyle/>
          <a:p>
            <a:pPr algn="ctr" indent="0" marL="0">
              <a:buNone/>
            </a:pPr>
            <a:r>
              <a:rPr lang="en-US" sz="900" i="1" dirty="0">
                <a:solidFill>
                  <a:srgbClr val="999999"/>
                </a:solidFill>
                <a:latin typeface="Calibri" pitchFamily="34" charset="0"/>
                <a:ea typeface="Calibri" pitchFamily="34" charset="-122"/>
                <a:cs typeface="Calibri" pitchFamily="34" charset="-120"/>
              </a:rPr>
              <a:t>Stanford Web Credibility Research</a:t>
            </a:r>
            <a:endParaRPr lang="en-US" sz="900" dirty="0"/>
          </a:p>
        </p:txBody>
      </p:sp>
      <p:sp>
        <p:nvSpPr>
          <p:cNvPr id="9" name="Shape 7"/>
          <p:cNvSpPr/>
          <p:nvPr/>
        </p:nvSpPr>
        <p:spPr>
          <a:xfrm>
            <a:off x="4800600" y="2103120"/>
            <a:ext cx="3794760" cy="2194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800600" y="2103120"/>
            <a:ext cx="3794760" cy="54864"/>
          </a:xfrm>
          <a:prstGeom prst="rect">
            <a:avLst/>
          </a:prstGeom>
          <a:solidFill>
            <a:srgbClr val="C4892A"/>
          </a:solidFill>
          <a:ln/>
        </p:spPr>
      </p:sp>
      <p:sp>
        <p:nvSpPr>
          <p:cNvPr id="11" name="Text 9"/>
          <p:cNvSpPr/>
          <p:nvPr/>
        </p:nvSpPr>
        <p:spPr>
          <a:xfrm>
            <a:off x="4800600" y="2331720"/>
            <a:ext cx="3794760" cy="822960"/>
          </a:xfrm>
          <a:prstGeom prst="rect">
            <a:avLst/>
          </a:prstGeom>
          <a:noFill/>
          <a:ln/>
        </p:spPr>
        <p:txBody>
          <a:bodyPr wrap="square" lIns="0" tIns="0" rIns="0" bIns="0" rtlCol="0" anchor="ctr"/>
          <a:lstStyle/>
          <a:p>
            <a:pPr algn="ctr" indent="0" marL="0">
              <a:buNone/>
            </a:pPr>
            <a:r>
              <a:rPr lang="en-US" sz="6000" b="1" dirty="0">
                <a:solidFill>
                  <a:srgbClr val="2A4A30"/>
                </a:solidFill>
                <a:latin typeface="Georgia" pitchFamily="34" charset="0"/>
                <a:ea typeface="Georgia" pitchFamily="34" charset="-122"/>
                <a:cs typeface="Georgia" pitchFamily="34" charset="-120"/>
              </a:rPr>
              <a:t>88%</a:t>
            </a:r>
            <a:endParaRPr lang="en-US" sz="6000" dirty="0"/>
          </a:p>
        </p:txBody>
      </p:sp>
      <p:sp>
        <p:nvSpPr>
          <p:cNvPr id="12" name="Text 10"/>
          <p:cNvSpPr/>
          <p:nvPr/>
        </p:nvSpPr>
        <p:spPr>
          <a:xfrm>
            <a:off x="5166360" y="3154680"/>
            <a:ext cx="3063240" cy="822960"/>
          </a:xfrm>
          <a:prstGeom prst="rect">
            <a:avLst/>
          </a:prstGeom>
          <a:noFill/>
          <a:ln/>
        </p:spPr>
        <p:txBody>
          <a:bodyPr wrap="square" lIns="0" tIns="0" rIns="0" bIns="0" rtlCol="0" anchor="ctr"/>
          <a:lstStyle/>
          <a:p>
            <a:pPr algn="ctr" indent="0" marL="0">
              <a:buNone/>
            </a:pPr>
            <a:r>
              <a:rPr lang="en-US" sz="1400" dirty="0">
                <a:solidFill>
                  <a:srgbClr val="232823"/>
                </a:solidFill>
                <a:latin typeface="Calibri" pitchFamily="34" charset="0"/>
                <a:ea typeface="Calibri" pitchFamily="34" charset="-122"/>
                <a:cs typeface="Calibri" pitchFamily="34" charset="-120"/>
              </a:rPr>
              <a:t>of users won't return to a site</a:t>
            </a:r>
            <a:endParaRPr lang="en-US" sz="1400" dirty="0"/>
          </a:p>
          <a:p>
            <a:pPr algn="ctr" indent="0" marL="0">
              <a:buNone/>
            </a:pPr>
            <a:r>
              <a:rPr lang="en-US" sz="1400" dirty="0">
                <a:solidFill>
                  <a:srgbClr val="232823"/>
                </a:solidFill>
                <a:latin typeface="Calibri" pitchFamily="34" charset="0"/>
                <a:ea typeface="Calibri" pitchFamily="34" charset="-122"/>
                <a:cs typeface="Calibri" pitchFamily="34" charset="-120"/>
              </a:rPr>
              <a:t>after a bad experience</a:t>
            </a:r>
            <a:endParaRPr lang="en-US" sz="1400" dirty="0"/>
          </a:p>
        </p:txBody>
      </p:sp>
      <p:sp>
        <p:nvSpPr>
          <p:cNvPr id="13" name="Text 11"/>
          <p:cNvSpPr/>
          <p:nvPr/>
        </p:nvSpPr>
        <p:spPr>
          <a:xfrm>
            <a:off x="5166360" y="3840480"/>
            <a:ext cx="3063240" cy="320040"/>
          </a:xfrm>
          <a:prstGeom prst="rect">
            <a:avLst/>
          </a:prstGeom>
          <a:noFill/>
          <a:ln/>
        </p:spPr>
        <p:txBody>
          <a:bodyPr wrap="square" lIns="0" tIns="0" rIns="0" bIns="0" rtlCol="0" anchor="ctr"/>
          <a:lstStyle/>
          <a:p>
            <a:pPr algn="ctr" indent="0" marL="0">
              <a:buNone/>
            </a:pPr>
            <a:r>
              <a:rPr lang="en-US" sz="900" i="1" dirty="0">
                <a:solidFill>
                  <a:srgbClr val="999999"/>
                </a:solidFill>
                <a:latin typeface="Calibri" pitchFamily="34" charset="0"/>
                <a:ea typeface="Calibri" pitchFamily="34" charset="-122"/>
                <a:cs typeface="Calibri" pitchFamily="34" charset="-120"/>
              </a:rPr>
              <a:t>Sweor / Google Research</a:t>
            </a:r>
            <a:endParaRPr lang="en-US" sz="900" dirty="0"/>
          </a:p>
        </p:txBody>
      </p:sp>
      <p:sp>
        <p:nvSpPr>
          <p:cNvPr id="14" name="Text 12"/>
          <p:cNvSpPr/>
          <p:nvPr/>
        </p:nvSpPr>
        <p:spPr>
          <a:xfrm>
            <a:off x="548640" y="4572000"/>
            <a:ext cx="8046720" cy="36576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Most Hudson Valley small businesses have outdated, non-mobile-friendly websites — or none at all.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48640" y="365760"/>
            <a:ext cx="3657600" cy="457200"/>
          </a:xfrm>
          <a:prstGeom prst="rect">
            <a:avLst/>
          </a:prstGeom>
          <a:noFill/>
          <a:ln/>
        </p:spPr>
        <p:txBody>
          <a:bodyPr wrap="square" lIns="0" tIns="0" rIns="0" bIns="0" rtlCol="0" anchor="ctr"/>
          <a:lstStyle/>
          <a:p>
            <a:pPr indent="0" marL="0">
              <a:buNone/>
            </a:pPr>
            <a:r>
              <a:rPr lang="en-US" sz="1200" b="1" spc="300" kern="0" dirty="0">
                <a:solidFill>
                  <a:srgbClr val="C4892A"/>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548640" y="822960"/>
            <a:ext cx="7772400" cy="914400"/>
          </a:xfrm>
          <a:prstGeom prst="rect">
            <a:avLst/>
          </a:prstGeom>
          <a:noFill/>
          <a:ln/>
        </p:spPr>
        <p:txBody>
          <a:bodyPr wrap="square" lIns="0" tIns="0" rIns="0" bIns="0" rtlCol="0" anchor="ctr"/>
          <a:lstStyle/>
          <a:p>
            <a:pPr indent="0" marL="0">
              <a:buNone/>
            </a:pPr>
            <a:r>
              <a:rPr lang="en-US" sz="3200" b="1" dirty="0">
                <a:solidFill>
                  <a:srgbClr val="232823"/>
                </a:solidFill>
                <a:latin typeface="Georgia" pitchFamily="34" charset="0"/>
                <a:ea typeface="Georgia" pitchFamily="34" charset="-122"/>
                <a:cs typeface="Georgia" pitchFamily="34" charset="-120"/>
              </a:rPr>
              <a:t>Everything a Local Business</a:t>
            </a:r>
            <a:endParaRPr lang="en-US" sz="3200" dirty="0"/>
          </a:p>
          <a:p>
            <a:pPr indent="0" marL="0">
              <a:buNone/>
            </a:pPr>
            <a:r>
              <a:rPr lang="en-US" sz="3200" b="1" dirty="0">
                <a:solidFill>
                  <a:srgbClr val="232823"/>
                </a:solidFill>
                <a:latin typeface="Georgia" pitchFamily="34" charset="0"/>
                <a:ea typeface="Georgia" pitchFamily="34" charset="-122"/>
                <a:cs typeface="Georgia" pitchFamily="34" charset="-120"/>
              </a:rPr>
              <a:t>Needs to Grow Online</a:t>
            </a:r>
            <a:endParaRPr lang="en-US" sz="3200" dirty="0"/>
          </a:p>
        </p:txBody>
      </p:sp>
      <p:sp>
        <p:nvSpPr>
          <p:cNvPr id="4" name="Shape 2"/>
          <p:cNvSpPr/>
          <p:nvPr/>
        </p:nvSpPr>
        <p:spPr>
          <a:xfrm>
            <a:off x="548640" y="2011680"/>
            <a:ext cx="379476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2011680"/>
            <a:ext cx="54864" cy="1188720"/>
          </a:xfrm>
          <a:prstGeom prst="rect">
            <a:avLst/>
          </a:prstGeom>
          <a:solidFill>
            <a:srgbClr val="2A4A30"/>
          </a:solidFill>
          <a:ln/>
        </p:spPr>
      </p:sp>
      <p:pic>
        <p:nvPicPr>
          <p:cNvPr id="6" name="Image 0" descr="preencoded.png">    </p:cNvPr>
          <p:cNvPicPr>
            <a:picLocks noChangeAspect="1"/>
          </p:cNvPicPr>
          <p:nvPr/>
        </p:nvPicPr>
        <p:blipFill>
          <a:blip r:embed="rId1"/>
          <a:stretch>
            <a:fillRect/>
          </a:stretch>
        </p:blipFill>
        <p:spPr>
          <a:xfrm>
            <a:off x="822960" y="2331720"/>
            <a:ext cx="457200" cy="457200"/>
          </a:xfrm>
          <a:prstGeom prst="rect">
            <a:avLst/>
          </a:prstGeom>
        </p:spPr>
      </p:pic>
      <p:sp>
        <p:nvSpPr>
          <p:cNvPr id="7" name="Text 4"/>
          <p:cNvSpPr/>
          <p:nvPr/>
        </p:nvSpPr>
        <p:spPr>
          <a:xfrm>
            <a:off x="1463040" y="2194560"/>
            <a:ext cx="2651760" cy="365760"/>
          </a:xfrm>
          <a:prstGeom prst="rect">
            <a:avLst/>
          </a:prstGeom>
          <a:noFill/>
          <a:ln/>
        </p:spPr>
        <p:txBody>
          <a:bodyPr wrap="square" lIns="0" tIns="0" rIns="0" bIns="0" rtlCol="0" anchor="ctr"/>
          <a:lstStyle/>
          <a:p>
            <a:pPr indent="0" marL="0">
              <a:buNone/>
            </a:pPr>
            <a:r>
              <a:rPr lang="en-US" sz="1600" b="1" dirty="0">
                <a:solidFill>
                  <a:srgbClr val="232823"/>
                </a:solidFill>
                <a:latin typeface="Georgia" pitchFamily="34" charset="0"/>
                <a:ea typeface="Georgia" pitchFamily="34" charset="-122"/>
                <a:cs typeface="Georgia" pitchFamily="34" charset="-120"/>
              </a:rPr>
              <a:t>Custom Websites</a:t>
            </a:r>
            <a:endParaRPr lang="en-US" sz="1600" dirty="0"/>
          </a:p>
        </p:txBody>
      </p:sp>
      <p:sp>
        <p:nvSpPr>
          <p:cNvPr id="8" name="Text 5"/>
          <p:cNvSpPr/>
          <p:nvPr/>
        </p:nvSpPr>
        <p:spPr>
          <a:xfrm>
            <a:off x="1463040" y="2560320"/>
            <a:ext cx="2651760" cy="50292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Fast, mobile-first sites built for conversions — not templates.</a:t>
            </a:r>
            <a:endParaRPr lang="en-US" sz="1100" dirty="0"/>
          </a:p>
        </p:txBody>
      </p:sp>
      <p:sp>
        <p:nvSpPr>
          <p:cNvPr id="9" name="Shape 6"/>
          <p:cNvSpPr/>
          <p:nvPr/>
        </p:nvSpPr>
        <p:spPr>
          <a:xfrm>
            <a:off x="4800600" y="2011680"/>
            <a:ext cx="379476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7"/>
          <p:cNvSpPr/>
          <p:nvPr/>
        </p:nvSpPr>
        <p:spPr>
          <a:xfrm>
            <a:off x="4800600" y="2011680"/>
            <a:ext cx="54864" cy="1188720"/>
          </a:xfrm>
          <a:prstGeom prst="rect">
            <a:avLst/>
          </a:prstGeom>
          <a:solidFill>
            <a:srgbClr val="2A4A30"/>
          </a:solidFill>
          <a:ln/>
        </p:spPr>
      </p:sp>
      <p:pic>
        <p:nvPicPr>
          <p:cNvPr id="11" name="Image 1" descr="preencoded.png">    </p:cNvPr>
          <p:cNvPicPr>
            <a:picLocks noChangeAspect="1"/>
          </p:cNvPicPr>
          <p:nvPr/>
        </p:nvPicPr>
        <p:blipFill>
          <a:blip r:embed="rId2"/>
          <a:stretch>
            <a:fillRect/>
          </a:stretch>
        </p:blipFill>
        <p:spPr>
          <a:xfrm>
            <a:off x="5074920" y="2331720"/>
            <a:ext cx="457200" cy="457200"/>
          </a:xfrm>
          <a:prstGeom prst="rect">
            <a:avLst/>
          </a:prstGeom>
        </p:spPr>
      </p:pic>
      <p:sp>
        <p:nvSpPr>
          <p:cNvPr id="12" name="Text 8"/>
          <p:cNvSpPr/>
          <p:nvPr/>
        </p:nvSpPr>
        <p:spPr>
          <a:xfrm>
            <a:off x="5715000" y="2194560"/>
            <a:ext cx="2651760" cy="365760"/>
          </a:xfrm>
          <a:prstGeom prst="rect">
            <a:avLst/>
          </a:prstGeom>
          <a:noFill/>
          <a:ln/>
        </p:spPr>
        <p:txBody>
          <a:bodyPr wrap="square" lIns="0" tIns="0" rIns="0" bIns="0" rtlCol="0" anchor="ctr"/>
          <a:lstStyle/>
          <a:p>
            <a:pPr indent="0" marL="0">
              <a:buNone/>
            </a:pPr>
            <a:r>
              <a:rPr lang="en-US" sz="1600" b="1" dirty="0">
                <a:solidFill>
                  <a:srgbClr val="232823"/>
                </a:solidFill>
                <a:latin typeface="Georgia" pitchFamily="34" charset="0"/>
                <a:ea typeface="Georgia" pitchFamily="34" charset="-122"/>
                <a:cs typeface="Georgia" pitchFamily="34" charset="-120"/>
              </a:rPr>
              <a:t>AI Chatbots</a:t>
            </a:r>
            <a:endParaRPr lang="en-US" sz="1600" dirty="0"/>
          </a:p>
        </p:txBody>
      </p:sp>
      <p:sp>
        <p:nvSpPr>
          <p:cNvPr id="13" name="Text 9"/>
          <p:cNvSpPr/>
          <p:nvPr/>
        </p:nvSpPr>
        <p:spPr>
          <a:xfrm>
            <a:off x="5715000" y="2560320"/>
            <a:ext cx="2651760" cy="50292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24/7 lead capture that answers questions and books appointments.</a:t>
            </a:r>
            <a:endParaRPr lang="en-US" sz="1100" dirty="0"/>
          </a:p>
        </p:txBody>
      </p:sp>
      <p:sp>
        <p:nvSpPr>
          <p:cNvPr id="14" name="Shape 10"/>
          <p:cNvSpPr/>
          <p:nvPr/>
        </p:nvSpPr>
        <p:spPr>
          <a:xfrm>
            <a:off x="548640" y="3474720"/>
            <a:ext cx="379476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1"/>
          <p:cNvSpPr/>
          <p:nvPr/>
        </p:nvSpPr>
        <p:spPr>
          <a:xfrm>
            <a:off x="548640" y="3474720"/>
            <a:ext cx="54864" cy="1188720"/>
          </a:xfrm>
          <a:prstGeom prst="rect">
            <a:avLst/>
          </a:prstGeom>
          <a:solidFill>
            <a:srgbClr val="2A4A30"/>
          </a:solidFill>
          <a:ln/>
        </p:spPr>
      </p:sp>
      <p:pic>
        <p:nvPicPr>
          <p:cNvPr id="16" name="Image 2" descr="preencoded.png">    </p:cNvPr>
          <p:cNvPicPr>
            <a:picLocks noChangeAspect="1"/>
          </p:cNvPicPr>
          <p:nvPr/>
        </p:nvPicPr>
        <p:blipFill>
          <a:blip r:embed="rId3"/>
          <a:stretch>
            <a:fillRect/>
          </a:stretch>
        </p:blipFill>
        <p:spPr>
          <a:xfrm>
            <a:off x="822960" y="3794760"/>
            <a:ext cx="457200" cy="457200"/>
          </a:xfrm>
          <a:prstGeom prst="rect">
            <a:avLst/>
          </a:prstGeom>
        </p:spPr>
      </p:pic>
      <p:sp>
        <p:nvSpPr>
          <p:cNvPr id="17" name="Text 12"/>
          <p:cNvSpPr/>
          <p:nvPr/>
        </p:nvSpPr>
        <p:spPr>
          <a:xfrm>
            <a:off x="1463040" y="3657600"/>
            <a:ext cx="2651760" cy="365760"/>
          </a:xfrm>
          <a:prstGeom prst="rect">
            <a:avLst/>
          </a:prstGeom>
          <a:noFill/>
          <a:ln/>
        </p:spPr>
        <p:txBody>
          <a:bodyPr wrap="square" lIns="0" tIns="0" rIns="0" bIns="0" rtlCol="0" anchor="ctr"/>
          <a:lstStyle/>
          <a:p>
            <a:pPr indent="0" marL="0">
              <a:buNone/>
            </a:pPr>
            <a:r>
              <a:rPr lang="en-US" sz="1600" b="1" dirty="0">
                <a:solidFill>
                  <a:srgbClr val="232823"/>
                </a:solidFill>
                <a:latin typeface="Georgia" pitchFamily="34" charset="0"/>
                <a:ea typeface="Georgia" pitchFamily="34" charset="-122"/>
                <a:cs typeface="Georgia" pitchFamily="34" charset="-120"/>
              </a:rPr>
              <a:t>Lead Automation</a:t>
            </a:r>
            <a:endParaRPr lang="en-US" sz="1600" dirty="0"/>
          </a:p>
        </p:txBody>
      </p:sp>
      <p:sp>
        <p:nvSpPr>
          <p:cNvPr id="18" name="Text 13"/>
          <p:cNvSpPr/>
          <p:nvPr/>
        </p:nvSpPr>
        <p:spPr>
          <a:xfrm>
            <a:off x="1463040" y="4023360"/>
            <a:ext cx="2651760" cy="50292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Automated follow-ups, email sequences, and CRM integration.</a:t>
            </a:r>
            <a:endParaRPr lang="en-US" sz="1100" dirty="0"/>
          </a:p>
        </p:txBody>
      </p:sp>
      <p:sp>
        <p:nvSpPr>
          <p:cNvPr id="19" name="Shape 14"/>
          <p:cNvSpPr/>
          <p:nvPr/>
        </p:nvSpPr>
        <p:spPr>
          <a:xfrm>
            <a:off x="4800600" y="3474720"/>
            <a:ext cx="379476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5"/>
          <p:cNvSpPr/>
          <p:nvPr/>
        </p:nvSpPr>
        <p:spPr>
          <a:xfrm>
            <a:off x="4800600" y="3474720"/>
            <a:ext cx="54864" cy="1188720"/>
          </a:xfrm>
          <a:prstGeom prst="rect">
            <a:avLst/>
          </a:prstGeom>
          <a:solidFill>
            <a:srgbClr val="2A4A30"/>
          </a:solidFill>
          <a:ln/>
        </p:spPr>
      </p:sp>
      <p:pic>
        <p:nvPicPr>
          <p:cNvPr id="21" name="Image 3" descr="preencoded.png">    </p:cNvPr>
          <p:cNvPicPr>
            <a:picLocks noChangeAspect="1"/>
          </p:cNvPicPr>
          <p:nvPr/>
        </p:nvPicPr>
        <p:blipFill>
          <a:blip r:embed="rId4"/>
          <a:stretch>
            <a:fillRect/>
          </a:stretch>
        </p:blipFill>
        <p:spPr>
          <a:xfrm>
            <a:off x="5074920" y="3794760"/>
            <a:ext cx="457200" cy="457200"/>
          </a:xfrm>
          <a:prstGeom prst="rect">
            <a:avLst/>
          </a:prstGeom>
        </p:spPr>
      </p:pic>
      <p:sp>
        <p:nvSpPr>
          <p:cNvPr id="22" name="Text 16"/>
          <p:cNvSpPr/>
          <p:nvPr/>
        </p:nvSpPr>
        <p:spPr>
          <a:xfrm>
            <a:off x="5715000" y="3657600"/>
            <a:ext cx="2651760" cy="365760"/>
          </a:xfrm>
          <a:prstGeom prst="rect">
            <a:avLst/>
          </a:prstGeom>
          <a:noFill/>
          <a:ln/>
        </p:spPr>
        <p:txBody>
          <a:bodyPr wrap="square" lIns="0" tIns="0" rIns="0" bIns="0" rtlCol="0" anchor="ctr"/>
          <a:lstStyle/>
          <a:p>
            <a:pPr indent="0" marL="0">
              <a:buNone/>
            </a:pPr>
            <a:r>
              <a:rPr lang="en-US" sz="1600" b="1" dirty="0">
                <a:solidFill>
                  <a:srgbClr val="232823"/>
                </a:solidFill>
                <a:latin typeface="Georgia" pitchFamily="34" charset="0"/>
                <a:ea typeface="Georgia" pitchFamily="34" charset="-122"/>
                <a:cs typeface="Georgia" pitchFamily="34" charset="-120"/>
              </a:rPr>
              <a:t>Local SEO</a:t>
            </a:r>
            <a:endParaRPr lang="en-US" sz="1600" dirty="0"/>
          </a:p>
        </p:txBody>
      </p:sp>
      <p:sp>
        <p:nvSpPr>
          <p:cNvPr id="23" name="Text 17"/>
          <p:cNvSpPr/>
          <p:nvPr/>
        </p:nvSpPr>
        <p:spPr>
          <a:xfrm>
            <a:off x="5715000" y="4023360"/>
            <a:ext cx="2651760" cy="50292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Rank higher on Google Maps and local search results.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4572000" cy="457200"/>
          </a:xfrm>
          <a:prstGeom prst="rect">
            <a:avLst/>
          </a:prstGeom>
          <a:noFill/>
          <a:ln/>
        </p:spPr>
        <p:txBody>
          <a:bodyPr wrap="square" lIns="0" tIns="0" rIns="0" bIns="0" rtlCol="0" anchor="ctr"/>
          <a:lstStyle/>
          <a:p>
            <a:pPr indent="0" marL="0">
              <a:buNone/>
            </a:pPr>
            <a:r>
              <a:rPr lang="en-US" sz="1200" b="1" spc="300" kern="0" dirty="0">
                <a:solidFill>
                  <a:srgbClr val="C4892A"/>
                </a:solidFill>
                <a:latin typeface="Calibri" pitchFamily="34" charset="0"/>
                <a:ea typeface="Calibri" pitchFamily="34" charset="-122"/>
                <a:cs typeface="Calibri" pitchFamily="34" charset="-120"/>
              </a:rPr>
              <a:t>SERVICES &amp; PRICING</a:t>
            </a:r>
            <a:endParaRPr lang="en-US" sz="1200" dirty="0"/>
          </a:p>
        </p:txBody>
      </p:sp>
      <p:sp>
        <p:nvSpPr>
          <p:cNvPr id="3" name="Text 1"/>
          <p:cNvSpPr/>
          <p:nvPr/>
        </p:nvSpPr>
        <p:spPr>
          <a:xfrm>
            <a:off x="548640" y="777240"/>
            <a:ext cx="7772400" cy="548640"/>
          </a:xfrm>
          <a:prstGeom prst="rect">
            <a:avLst/>
          </a:prstGeom>
          <a:noFill/>
          <a:ln/>
        </p:spPr>
        <p:txBody>
          <a:bodyPr wrap="square" lIns="0" tIns="0" rIns="0" bIns="0" rtlCol="0" anchor="ctr"/>
          <a:lstStyle/>
          <a:p>
            <a:pPr indent="0" marL="0">
              <a:buNone/>
            </a:pPr>
            <a:r>
              <a:rPr lang="en-US" sz="3200" b="1" dirty="0">
                <a:solidFill>
                  <a:srgbClr val="232823"/>
                </a:solidFill>
                <a:latin typeface="Georgia" pitchFamily="34" charset="0"/>
                <a:ea typeface="Georgia" pitchFamily="34" charset="-122"/>
                <a:cs typeface="Georgia" pitchFamily="34" charset="-120"/>
              </a:rPr>
              <a:t>Packages That Fit Every Budget</a:t>
            </a:r>
            <a:endParaRPr lang="en-US" sz="3200" dirty="0"/>
          </a:p>
        </p:txBody>
      </p:sp>
      <p:sp>
        <p:nvSpPr>
          <p:cNvPr id="4" name="Shape 2"/>
          <p:cNvSpPr/>
          <p:nvPr/>
        </p:nvSpPr>
        <p:spPr>
          <a:xfrm>
            <a:off x="457200" y="1417320"/>
            <a:ext cx="2606040" cy="3474720"/>
          </a:xfrm>
          <a:prstGeom prst="rect">
            <a:avLst/>
          </a:prstGeom>
          <a:solidFill>
            <a:srgbClr val="F7F2E8"/>
          </a:solidFill>
          <a:ln/>
          <a:effectLst>
            <a:outerShdw sx="100000" sy="100000" kx="0" ky="0" algn="bl" rotWithShape="0" blurRad="50800" dist="25400" dir="8100000">
              <a:srgbClr val="000000">
                <a:alpha val="10000"/>
              </a:srgbClr>
            </a:outerShdw>
          </a:effectLst>
        </p:spPr>
      </p:sp>
      <p:sp>
        <p:nvSpPr>
          <p:cNvPr id="5" name="Text 3"/>
          <p:cNvSpPr/>
          <p:nvPr/>
        </p:nvSpPr>
        <p:spPr>
          <a:xfrm>
            <a:off x="457200" y="1600200"/>
            <a:ext cx="2606040" cy="365760"/>
          </a:xfrm>
          <a:prstGeom prst="rect">
            <a:avLst/>
          </a:prstGeom>
          <a:noFill/>
          <a:ln/>
        </p:spPr>
        <p:txBody>
          <a:bodyPr wrap="square" lIns="0" tIns="0" rIns="0" bIns="0" rtlCol="0" anchor="ctr"/>
          <a:lstStyle/>
          <a:p>
            <a:pPr algn="ctr" indent="0" marL="0">
              <a:buNone/>
            </a:pPr>
            <a:r>
              <a:rPr lang="en-US" sz="1200" b="1" spc="200" kern="0" dirty="0">
                <a:solidFill>
                  <a:srgbClr val="2A4A30"/>
                </a:solidFill>
                <a:latin typeface="Calibri" pitchFamily="34" charset="0"/>
                <a:ea typeface="Calibri" pitchFamily="34" charset="-122"/>
                <a:cs typeface="Calibri" pitchFamily="34" charset="-120"/>
              </a:rPr>
              <a:t>STARTER</a:t>
            </a:r>
            <a:endParaRPr lang="en-US" sz="1200" dirty="0"/>
          </a:p>
        </p:txBody>
      </p:sp>
      <p:sp>
        <p:nvSpPr>
          <p:cNvPr id="6" name="Text 4"/>
          <p:cNvSpPr/>
          <p:nvPr/>
        </p:nvSpPr>
        <p:spPr>
          <a:xfrm>
            <a:off x="457200" y="1920240"/>
            <a:ext cx="2606040" cy="548640"/>
          </a:xfrm>
          <a:prstGeom prst="rect">
            <a:avLst/>
          </a:prstGeom>
          <a:noFill/>
          <a:ln/>
        </p:spPr>
        <p:txBody>
          <a:bodyPr wrap="square" lIns="0" tIns="0" rIns="0" bIns="0" rtlCol="0" anchor="ctr"/>
          <a:lstStyle/>
          <a:p>
            <a:pPr algn="ctr" indent="0" marL="0">
              <a:buNone/>
            </a:pPr>
            <a:r>
              <a:rPr lang="en-US" sz="3600" b="1" dirty="0">
                <a:solidFill>
                  <a:srgbClr val="232823"/>
                </a:solidFill>
                <a:latin typeface="Georgia" pitchFamily="34" charset="0"/>
                <a:ea typeface="Georgia" pitchFamily="34" charset="-122"/>
                <a:cs typeface="Georgia" pitchFamily="34" charset="-120"/>
              </a:rPr>
              <a:t>$2,500</a:t>
            </a:r>
            <a:endParaRPr lang="en-US" sz="3600" dirty="0"/>
          </a:p>
        </p:txBody>
      </p:sp>
      <p:sp>
        <p:nvSpPr>
          <p:cNvPr id="7" name="Shape 5"/>
          <p:cNvSpPr/>
          <p:nvPr/>
        </p:nvSpPr>
        <p:spPr>
          <a:xfrm>
            <a:off x="1005840" y="2514600"/>
            <a:ext cx="1508760" cy="18288"/>
          </a:xfrm>
          <a:prstGeom prst="rect">
            <a:avLst/>
          </a:prstGeom>
          <a:solidFill>
            <a:srgbClr val="2A4A30"/>
          </a:solidFill>
          <a:ln/>
        </p:spPr>
      </p:sp>
      <p:sp>
        <p:nvSpPr>
          <p:cNvPr id="8" name="Text 6"/>
          <p:cNvSpPr/>
          <p:nvPr/>
        </p:nvSpPr>
        <p:spPr>
          <a:xfrm>
            <a:off x="777240" y="2697480"/>
            <a:ext cx="2011680" cy="19202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444444"/>
                </a:solidFill>
                <a:latin typeface="Calibri" pitchFamily="34" charset="0"/>
                <a:ea typeface="Calibri" pitchFamily="34" charset="-122"/>
                <a:cs typeface="Calibri" pitchFamily="34" charset="-120"/>
              </a:rPr>
              <a:t>5-page responsive website</a:t>
            </a:r>
            <a:endParaRPr lang="en-US" sz="1100" dirty="0"/>
          </a:p>
          <a:p>
            <a:pPr marL="342900" indent="-342900">
              <a:spcAft>
                <a:spcPts val="400"/>
              </a:spcAft>
              <a:buSzPct val="100000"/>
              <a:buChar char="•"/>
            </a:pPr>
            <a:r>
              <a:rPr lang="en-US" sz="1100" dirty="0">
                <a:solidFill>
                  <a:srgbClr val="444444"/>
                </a:solidFill>
                <a:latin typeface="Calibri" pitchFamily="34" charset="0"/>
                <a:ea typeface="Calibri" pitchFamily="34" charset="-122"/>
                <a:cs typeface="Calibri" pitchFamily="34" charset="-120"/>
              </a:rPr>
              <a:t>Mobile optimization</a:t>
            </a:r>
            <a:endParaRPr lang="en-US" sz="1100" dirty="0"/>
          </a:p>
          <a:p>
            <a:pPr marL="342900" indent="-342900">
              <a:spcAft>
                <a:spcPts val="400"/>
              </a:spcAft>
              <a:buSzPct val="100000"/>
              <a:buChar char="•"/>
            </a:pPr>
            <a:r>
              <a:rPr lang="en-US" sz="1100" dirty="0">
                <a:solidFill>
                  <a:srgbClr val="444444"/>
                </a:solidFill>
                <a:latin typeface="Calibri" pitchFamily="34" charset="0"/>
                <a:ea typeface="Calibri" pitchFamily="34" charset="-122"/>
                <a:cs typeface="Calibri" pitchFamily="34" charset="-120"/>
              </a:rPr>
              <a:t>Contact form + Google Maps</a:t>
            </a:r>
            <a:endParaRPr lang="en-US" sz="1100" dirty="0"/>
          </a:p>
          <a:p>
            <a:pPr marL="342900" indent="-342900">
              <a:spcAft>
                <a:spcPts val="400"/>
              </a:spcAft>
              <a:buSzPct val="100000"/>
              <a:buChar char="•"/>
            </a:pPr>
            <a:r>
              <a:rPr lang="en-US" sz="1100" dirty="0">
                <a:solidFill>
                  <a:srgbClr val="444444"/>
                </a:solidFill>
                <a:latin typeface="Calibri" pitchFamily="34" charset="0"/>
                <a:ea typeface="Calibri" pitchFamily="34" charset="-122"/>
                <a:cs typeface="Calibri" pitchFamily="34" charset="-120"/>
              </a:rPr>
              <a:t>Basic SEO setup</a:t>
            </a:r>
            <a:endParaRPr lang="en-US" sz="1100" dirty="0"/>
          </a:p>
          <a:p>
            <a:pPr marL="342900" indent="-342900">
              <a:spcAft>
                <a:spcPts val="400"/>
              </a:spcAft>
              <a:buSzPct val="100000"/>
              <a:buChar char="•"/>
            </a:pPr>
            <a:r>
              <a:rPr lang="en-US" sz="1100" dirty="0">
                <a:solidFill>
                  <a:srgbClr val="444444"/>
                </a:solidFill>
                <a:latin typeface="Calibri" pitchFamily="34" charset="0"/>
                <a:ea typeface="Calibri" pitchFamily="34" charset="-122"/>
                <a:cs typeface="Calibri" pitchFamily="34" charset="-120"/>
              </a:rPr>
              <a:t>1 round of revisions</a:t>
            </a:r>
            <a:endParaRPr lang="en-US" sz="1100" dirty="0"/>
          </a:p>
        </p:txBody>
      </p:sp>
      <p:sp>
        <p:nvSpPr>
          <p:cNvPr id="9" name="Shape 7"/>
          <p:cNvSpPr/>
          <p:nvPr/>
        </p:nvSpPr>
        <p:spPr>
          <a:xfrm>
            <a:off x="3246120" y="1417320"/>
            <a:ext cx="2606040" cy="3474720"/>
          </a:xfrm>
          <a:prstGeom prst="rect">
            <a:avLst/>
          </a:prstGeom>
          <a:solidFill>
            <a:srgbClr val="2A4A30"/>
          </a:solidFill>
          <a:ln/>
          <a:effectLst>
            <a:outerShdw sx="100000" sy="100000" kx="0" ky="0" algn="bl" rotWithShape="0" blurRad="50800" dist="25400" dir="8100000">
              <a:srgbClr val="000000">
                <a:alpha val="10000"/>
              </a:srgbClr>
            </a:outerShdw>
          </a:effectLst>
        </p:spPr>
      </p:sp>
      <p:sp>
        <p:nvSpPr>
          <p:cNvPr id="10" name="Text 8"/>
          <p:cNvSpPr/>
          <p:nvPr/>
        </p:nvSpPr>
        <p:spPr>
          <a:xfrm>
            <a:off x="3246120" y="1600200"/>
            <a:ext cx="2606040" cy="365760"/>
          </a:xfrm>
          <a:prstGeom prst="rect">
            <a:avLst/>
          </a:prstGeom>
          <a:noFill/>
          <a:ln/>
        </p:spPr>
        <p:txBody>
          <a:bodyPr wrap="square" lIns="0" tIns="0" rIns="0" bIns="0" rtlCol="0" anchor="ctr"/>
          <a:lstStyle/>
          <a:p>
            <a:pPr algn="ctr" indent="0" marL="0">
              <a:buNone/>
            </a:pPr>
            <a:r>
              <a:rPr lang="en-US" sz="1200" b="1" spc="200" kern="0" dirty="0">
                <a:solidFill>
                  <a:srgbClr val="C4892A"/>
                </a:solidFill>
                <a:latin typeface="Calibri" pitchFamily="34" charset="0"/>
                <a:ea typeface="Calibri" pitchFamily="34" charset="-122"/>
                <a:cs typeface="Calibri" pitchFamily="34" charset="-120"/>
              </a:rPr>
              <a:t>GROWTH</a:t>
            </a:r>
            <a:endParaRPr lang="en-US" sz="1200" dirty="0"/>
          </a:p>
        </p:txBody>
      </p:sp>
      <p:sp>
        <p:nvSpPr>
          <p:cNvPr id="11" name="Text 9"/>
          <p:cNvSpPr/>
          <p:nvPr/>
        </p:nvSpPr>
        <p:spPr>
          <a:xfrm>
            <a:off x="3246120" y="1920240"/>
            <a:ext cx="2606040" cy="54864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$5,000</a:t>
            </a:r>
            <a:endParaRPr lang="en-US" sz="3600" dirty="0"/>
          </a:p>
        </p:txBody>
      </p:sp>
      <p:sp>
        <p:nvSpPr>
          <p:cNvPr id="12" name="Shape 10"/>
          <p:cNvSpPr/>
          <p:nvPr/>
        </p:nvSpPr>
        <p:spPr>
          <a:xfrm>
            <a:off x="3794760" y="2514600"/>
            <a:ext cx="1508760" cy="18288"/>
          </a:xfrm>
          <a:prstGeom prst="rect">
            <a:avLst/>
          </a:prstGeom>
          <a:solidFill>
            <a:srgbClr val="C4892A"/>
          </a:solidFill>
          <a:ln/>
        </p:spPr>
      </p:sp>
      <p:sp>
        <p:nvSpPr>
          <p:cNvPr id="13" name="Text 11"/>
          <p:cNvSpPr/>
          <p:nvPr/>
        </p:nvSpPr>
        <p:spPr>
          <a:xfrm>
            <a:off x="3566160" y="2697480"/>
            <a:ext cx="2011680" cy="19202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F7F2E8"/>
                </a:solidFill>
                <a:latin typeface="Calibri" pitchFamily="34" charset="0"/>
                <a:ea typeface="Calibri" pitchFamily="34" charset="-122"/>
                <a:cs typeface="Calibri" pitchFamily="34" charset="-120"/>
              </a:rPr>
              <a:t>Up to 10-page website</a:t>
            </a:r>
            <a:endParaRPr lang="en-US" sz="1100" dirty="0"/>
          </a:p>
          <a:p>
            <a:pPr marL="342900" indent="-342900">
              <a:spcAft>
                <a:spcPts val="400"/>
              </a:spcAft>
              <a:buSzPct val="100000"/>
              <a:buChar char="•"/>
            </a:pPr>
            <a:r>
              <a:rPr lang="en-US" sz="1100" dirty="0">
                <a:solidFill>
                  <a:srgbClr val="F7F2E8"/>
                </a:solidFill>
                <a:latin typeface="Calibri" pitchFamily="34" charset="0"/>
                <a:ea typeface="Calibri" pitchFamily="34" charset="-122"/>
                <a:cs typeface="Calibri" pitchFamily="34" charset="-120"/>
              </a:rPr>
              <a:t>AI chatbot integration</a:t>
            </a:r>
            <a:endParaRPr lang="en-US" sz="1100" dirty="0"/>
          </a:p>
          <a:p>
            <a:pPr marL="342900" indent="-342900">
              <a:spcAft>
                <a:spcPts val="400"/>
              </a:spcAft>
              <a:buSzPct val="100000"/>
              <a:buChar char="•"/>
            </a:pPr>
            <a:r>
              <a:rPr lang="en-US" sz="1100" dirty="0">
                <a:solidFill>
                  <a:srgbClr val="F7F2E8"/>
                </a:solidFill>
                <a:latin typeface="Calibri" pitchFamily="34" charset="0"/>
                <a:ea typeface="Calibri" pitchFamily="34" charset="-122"/>
                <a:cs typeface="Calibri" pitchFamily="34" charset="-120"/>
              </a:rPr>
              <a:t>Lead capture forms</a:t>
            </a:r>
            <a:endParaRPr lang="en-US" sz="1100" dirty="0"/>
          </a:p>
          <a:p>
            <a:pPr marL="342900" indent="-342900">
              <a:spcAft>
                <a:spcPts val="400"/>
              </a:spcAft>
              <a:buSzPct val="100000"/>
              <a:buChar char="•"/>
            </a:pPr>
            <a:r>
              <a:rPr lang="en-US" sz="1100" dirty="0">
                <a:solidFill>
                  <a:srgbClr val="F7F2E8"/>
                </a:solidFill>
                <a:latin typeface="Calibri" pitchFamily="34" charset="0"/>
                <a:ea typeface="Calibri" pitchFamily="34" charset="-122"/>
                <a:cs typeface="Calibri" pitchFamily="34" charset="-120"/>
              </a:rPr>
              <a:t>Google Business optimization</a:t>
            </a:r>
            <a:endParaRPr lang="en-US" sz="1100" dirty="0"/>
          </a:p>
          <a:p>
            <a:pPr marL="342900" indent="-342900">
              <a:spcAft>
                <a:spcPts val="400"/>
              </a:spcAft>
              <a:buSzPct val="100000"/>
              <a:buChar char="•"/>
            </a:pPr>
            <a:r>
              <a:rPr lang="en-US" sz="1100" dirty="0">
                <a:solidFill>
                  <a:srgbClr val="F7F2E8"/>
                </a:solidFill>
                <a:latin typeface="Calibri" pitchFamily="34" charset="0"/>
                <a:ea typeface="Calibri" pitchFamily="34" charset="-122"/>
                <a:cs typeface="Calibri" pitchFamily="34" charset="-120"/>
              </a:rPr>
              <a:t>2 rounds of revisions</a:t>
            </a:r>
            <a:endParaRPr lang="en-US" sz="1100" dirty="0"/>
          </a:p>
        </p:txBody>
      </p:sp>
      <p:sp>
        <p:nvSpPr>
          <p:cNvPr id="14" name="Shape 12"/>
          <p:cNvSpPr/>
          <p:nvPr/>
        </p:nvSpPr>
        <p:spPr>
          <a:xfrm>
            <a:off x="6035040" y="1417320"/>
            <a:ext cx="2606040" cy="3474720"/>
          </a:xfrm>
          <a:prstGeom prst="rect">
            <a:avLst/>
          </a:prstGeom>
          <a:solidFill>
            <a:srgbClr val="F7F2E8"/>
          </a:solidFill>
          <a:ln/>
          <a:effectLst>
            <a:outerShdw sx="100000" sy="100000" kx="0" ky="0" algn="bl" rotWithShape="0" blurRad="50800" dist="25400" dir="8100000">
              <a:srgbClr val="000000">
                <a:alpha val="10000"/>
              </a:srgbClr>
            </a:outerShdw>
          </a:effectLst>
        </p:spPr>
      </p:sp>
      <p:sp>
        <p:nvSpPr>
          <p:cNvPr id="15" name="Text 13"/>
          <p:cNvSpPr/>
          <p:nvPr/>
        </p:nvSpPr>
        <p:spPr>
          <a:xfrm>
            <a:off x="6035040" y="1600200"/>
            <a:ext cx="2606040" cy="365760"/>
          </a:xfrm>
          <a:prstGeom prst="rect">
            <a:avLst/>
          </a:prstGeom>
          <a:noFill/>
          <a:ln/>
        </p:spPr>
        <p:txBody>
          <a:bodyPr wrap="square" lIns="0" tIns="0" rIns="0" bIns="0" rtlCol="0" anchor="ctr"/>
          <a:lstStyle/>
          <a:p>
            <a:pPr algn="ctr" indent="0" marL="0">
              <a:buNone/>
            </a:pPr>
            <a:r>
              <a:rPr lang="en-US" sz="1200" b="1" spc="200" kern="0" dirty="0">
                <a:solidFill>
                  <a:srgbClr val="2A4A30"/>
                </a:solidFill>
                <a:latin typeface="Calibri" pitchFamily="34" charset="0"/>
                <a:ea typeface="Calibri" pitchFamily="34" charset="-122"/>
                <a:cs typeface="Calibri" pitchFamily="34" charset="-120"/>
              </a:rPr>
              <a:t>PREMIUM</a:t>
            </a:r>
            <a:endParaRPr lang="en-US" sz="1200" dirty="0"/>
          </a:p>
        </p:txBody>
      </p:sp>
      <p:sp>
        <p:nvSpPr>
          <p:cNvPr id="16" name="Text 14"/>
          <p:cNvSpPr/>
          <p:nvPr/>
        </p:nvSpPr>
        <p:spPr>
          <a:xfrm>
            <a:off x="6035040" y="1920240"/>
            <a:ext cx="2606040" cy="548640"/>
          </a:xfrm>
          <a:prstGeom prst="rect">
            <a:avLst/>
          </a:prstGeom>
          <a:noFill/>
          <a:ln/>
        </p:spPr>
        <p:txBody>
          <a:bodyPr wrap="square" lIns="0" tIns="0" rIns="0" bIns="0" rtlCol="0" anchor="ctr"/>
          <a:lstStyle/>
          <a:p>
            <a:pPr algn="ctr" indent="0" marL="0">
              <a:buNone/>
            </a:pPr>
            <a:r>
              <a:rPr lang="en-US" sz="3600" b="1" dirty="0">
                <a:solidFill>
                  <a:srgbClr val="232823"/>
                </a:solidFill>
                <a:latin typeface="Georgia" pitchFamily="34" charset="0"/>
                <a:ea typeface="Georgia" pitchFamily="34" charset="-122"/>
                <a:cs typeface="Georgia" pitchFamily="34" charset="-120"/>
              </a:rPr>
              <a:t>$7,500</a:t>
            </a:r>
            <a:endParaRPr lang="en-US" sz="3600" dirty="0"/>
          </a:p>
        </p:txBody>
      </p:sp>
      <p:sp>
        <p:nvSpPr>
          <p:cNvPr id="17" name="Shape 15"/>
          <p:cNvSpPr/>
          <p:nvPr/>
        </p:nvSpPr>
        <p:spPr>
          <a:xfrm>
            <a:off x="6583680" y="2514600"/>
            <a:ext cx="1508760" cy="18288"/>
          </a:xfrm>
          <a:prstGeom prst="rect">
            <a:avLst/>
          </a:prstGeom>
          <a:solidFill>
            <a:srgbClr val="2A4A30"/>
          </a:solidFill>
          <a:ln/>
        </p:spPr>
      </p:sp>
      <p:sp>
        <p:nvSpPr>
          <p:cNvPr id="18" name="Text 16"/>
          <p:cNvSpPr/>
          <p:nvPr/>
        </p:nvSpPr>
        <p:spPr>
          <a:xfrm>
            <a:off x="6355080" y="2697480"/>
            <a:ext cx="2011680" cy="19202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444444"/>
                </a:solidFill>
                <a:latin typeface="Calibri" pitchFamily="34" charset="0"/>
                <a:ea typeface="Calibri" pitchFamily="34" charset="-122"/>
                <a:cs typeface="Calibri" pitchFamily="34" charset="-120"/>
              </a:rPr>
              <a:t>Unlimited pages</a:t>
            </a:r>
            <a:endParaRPr lang="en-US" sz="1100" dirty="0"/>
          </a:p>
          <a:p>
            <a:pPr marL="342900" indent="-342900">
              <a:spcAft>
                <a:spcPts val="400"/>
              </a:spcAft>
              <a:buSzPct val="100000"/>
              <a:buChar char="•"/>
            </a:pPr>
            <a:r>
              <a:rPr lang="en-US" sz="1100" dirty="0">
                <a:solidFill>
                  <a:srgbClr val="444444"/>
                </a:solidFill>
                <a:latin typeface="Calibri" pitchFamily="34" charset="0"/>
                <a:ea typeface="Calibri" pitchFamily="34" charset="-122"/>
                <a:cs typeface="Calibri" pitchFamily="34" charset="-120"/>
              </a:rPr>
              <a:t>AI chatbot + lead automation</a:t>
            </a:r>
            <a:endParaRPr lang="en-US" sz="1100" dirty="0"/>
          </a:p>
          <a:p>
            <a:pPr marL="342900" indent="-342900">
              <a:spcAft>
                <a:spcPts val="400"/>
              </a:spcAft>
              <a:buSzPct val="100000"/>
              <a:buChar char="•"/>
            </a:pPr>
            <a:r>
              <a:rPr lang="en-US" sz="1100" dirty="0">
                <a:solidFill>
                  <a:srgbClr val="444444"/>
                </a:solidFill>
                <a:latin typeface="Calibri" pitchFamily="34" charset="0"/>
                <a:ea typeface="Calibri" pitchFamily="34" charset="-122"/>
                <a:cs typeface="Calibri" pitchFamily="34" charset="-120"/>
              </a:rPr>
              <a:t>Email sequence setup</a:t>
            </a:r>
            <a:endParaRPr lang="en-US" sz="1100" dirty="0"/>
          </a:p>
          <a:p>
            <a:pPr marL="342900" indent="-342900">
              <a:spcAft>
                <a:spcPts val="400"/>
              </a:spcAft>
              <a:buSzPct val="100000"/>
              <a:buChar char="•"/>
            </a:pPr>
            <a:r>
              <a:rPr lang="en-US" sz="1100" dirty="0">
                <a:solidFill>
                  <a:srgbClr val="444444"/>
                </a:solidFill>
                <a:latin typeface="Calibri" pitchFamily="34" charset="0"/>
                <a:ea typeface="Calibri" pitchFamily="34" charset="-122"/>
                <a:cs typeface="Calibri" pitchFamily="34" charset="-120"/>
              </a:rPr>
              <a:t>Full SEO + content strategy</a:t>
            </a:r>
            <a:endParaRPr lang="en-US" sz="1100" dirty="0"/>
          </a:p>
          <a:p>
            <a:pPr marL="342900" indent="-342900">
              <a:spcAft>
                <a:spcPts val="400"/>
              </a:spcAft>
              <a:buSzPct val="100000"/>
              <a:buChar char="•"/>
            </a:pPr>
            <a:r>
              <a:rPr lang="en-US" sz="1100" dirty="0">
                <a:solidFill>
                  <a:srgbClr val="444444"/>
                </a:solidFill>
                <a:latin typeface="Calibri" pitchFamily="34" charset="0"/>
                <a:ea typeface="Calibri" pitchFamily="34" charset="-122"/>
                <a:cs typeface="Calibri" pitchFamily="34" charset="-120"/>
              </a:rPr>
              <a:t>Priority support</a:t>
            </a:r>
            <a:endParaRPr lang="en-US" sz="1100" dirty="0"/>
          </a:p>
        </p:txBody>
      </p:sp>
      <p:sp>
        <p:nvSpPr>
          <p:cNvPr id="19" name="Shape 17"/>
          <p:cNvSpPr/>
          <p:nvPr/>
        </p:nvSpPr>
        <p:spPr>
          <a:xfrm>
            <a:off x="365760" y="4617720"/>
            <a:ext cx="8412480" cy="36576"/>
          </a:xfrm>
          <a:prstGeom prst="rect">
            <a:avLst/>
          </a:prstGeom>
          <a:solidFill>
            <a:srgbClr val="EDE7D9"/>
          </a:solidFill>
          <a:ln/>
        </p:spPr>
      </p:sp>
      <p:sp>
        <p:nvSpPr>
          <p:cNvPr id="20" name="Text 18"/>
          <p:cNvSpPr/>
          <p:nvPr/>
        </p:nvSpPr>
        <p:spPr>
          <a:xfrm>
            <a:off x="274320" y="4681728"/>
            <a:ext cx="8595360" cy="365760"/>
          </a:xfrm>
          <a:prstGeom prst="rect">
            <a:avLst/>
          </a:prstGeom>
          <a:noFill/>
          <a:ln/>
        </p:spPr>
        <p:txBody>
          <a:bodyPr wrap="square" lIns="0" tIns="0" rIns="0" bIns="0" rtlCol="0" anchor="ctr"/>
          <a:lstStyle/>
          <a:p>
            <a:pPr indent="0" marL="0">
              <a:buNone/>
            </a:pPr>
            <a:r>
              <a:rPr lang="en-US" sz="1100" b="1" dirty="0">
                <a:solidFill>
                  <a:srgbClr val="2A4A30"/>
                </a:solidFill>
                <a:latin typeface="Calibri" pitchFamily="34" charset="0"/>
                <a:ea typeface="Calibri" pitchFamily="34" charset="-122"/>
                <a:cs typeface="Calibri" pitchFamily="34" charset="-120"/>
              </a:rPr>
              <a:t>Monthly Retainers </a:t>
            </a:r>
            <a:pPr indent="0" marL="0">
              <a:buNone/>
            </a:pPr>
            <a:r>
              <a:rPr lang="en-US" sz="1100" dirty="0">
                <a:solidFill>
                  <a:srgbClr val="555555"/>
                </a:solidFill>
                <a:latin typeface="Calibri" pitchFamily="34" charset="0"/>
                <a:ea typeface="Calibri" pitchFamily="34" charset="-122"/>
                <a:cs typeface="Calibri" pitchFamily="34" charset="-120"/>
              </a:rPr>
              <a:t> $150–$500/mo  |  Hosting, maintenance &amp; chatbot management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A4A30"/>
        </a:solidFill>
      </p:bgPr>
    </p:bg>
    <p:spTree>
      <p:nvGrpSpPr>
        <p:cNvPr id="1" name=""/>
        <p:cNvGrpSpPr/>
        <p:nvPr/>
      </p:nvGrpSpPr>
      <p:grpSpPr>
        <a:xfrm>
          <a:off x="0" y="0"/>
          <a:ext cx="0" cy="0"/>
          <a:chOff x="0" y="0"/>
          <a:chExt cx="0" cy="0"/>
        </a:xfrm>
      </p:grpSpPr>
      <p:sp>
        <p:nvSpPr>
          <p:cNvPr id="2" name="Text 0"/>
          <p:cNvSpPr/>
          <p:nvPr/>
        </p:nvSpPr>
        <p:spPr>
          <a:xfrm>
            <a:off x="548640" y="365760"/>
            <a:ext cx="4572000" cy="457200"/>
          </a:xfrm>
          <a:prstGeom prst="rect">
            <a:avLst/>
          </a:prstGeom>
          <a:noFill/>
          <a:ln/>
        </p:spPr>
        <p:txBody>
          <a:bodyPr wrap="square" lIns="0" tIns="0" rIns="0" bIns="0" rtlCol="0" anchor="ctr"/>
          <a:lstStyle/>
          <a:p>
            <a:pPr indent="0" marL="0">
              <a:buNone/>
            </a:pPr>
            <a:r>
              <a:rPr lang="en-US" sz="1200" b="1" spc="300" kern="0" dirty="0">
                <a:solidFill>
                  <a:srgbClr val="C4892A"/>
                </a:solidFill>
                <a:latin typeface="Calibri" pitchFamily="34" charset="0"/>
                <a:ea typeface="Calibri" pitchFamily="34" charset="-122"/>
                <a:cs typeface="Calibri" pitchFamily="34" charset="-120"/>
              </a:rPr>
              <a:t>THE AI ADVANTAGE</a:t>
            </a:r>
            <a:endParaRPr lang="en-US" sz="1200" dirty="0"/>
          </a:p>
        </p:txBody>
      </p:sp>
      <p:sp>
        <p:nvSpPr>
          <p:cNvPr id="3" name="Text 1"/>
          <p:cNvSpPr/>
          <p:nvPr/>
        </p:nvSpPr>
        <p:spPr>
          <a:xfrm>
            <a:off x="548640" y="822960"/>
            <a:ext cx="5029200" cy="91440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Smart Technology,</a:t>
            </a:r>
            <a:endParaRPr lang="en-US" sz="3200" dirty="0"/>
          </a:p>
          <a:p>
            <a:pPr indent="0" marL="0">
              <a:buNone/>
            </a:pPr>
            <a:r>
              <a:rPr lang="en-US" sz="3200" b="1" dirty="0">
                <a:solidFill>
                  <a:srgbClr val="FFFFFF"/>
                </a:solidFill>
                <a:latin typeface="Georgia" pitchFamily="34" charset="0"/>
                <a:ea typeface="Georgia" pitchFamily="34" charset="-122"/>
                <a:cs typeface="Georgia" pitchFamily="34" charset="-120"/>
              </a:rPr>
              <a:t>Real Results</a:t>
            </a:r>
            <a:endParaRPr lang="en-US" sz="3200" dirty="0"/>
          </a:p>
        </p:txBody>
      </p:sp>
      <p:sp>
        <p:nvSpPr>
          <p:cNvPr id="4" name="Shape 2"/>
          <p:cNvSpPr/>
          <p:nvPr/>
        </p:nvSpPr>
        <p:spPr>
          <a:xfrm>
            <a:off x="548640" y="2011680"/>
            <a:ext cx="2560320" cy="2743200"/>
          </a:xfrm>
          <a:prstGeom prst="rect">
            <a:avLst/>
          </a:prstGeom>
          <a:solidFill>
            <a:srgbClr val="3A6A42"/>
          </a:solidFill>
          <a:ln/>
          <a:effectLst>
            <a:outerShdw sx="100000" sy="100000" kx="0" ky="0" algn="bl" rotWithShape="0" blurRad="50800" dist="25400" dir="81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731520" y="2240280"/>
            <a:ext cx="411480" cy="411480"/>
          </a:xfrm>
          <a:prstGeom prst="rect">
            <a:avLst/>
          </a:prstGeom>
        </p:spPr>
      </p:pic>
      <p:sp>
        <p:nvSpPr>
          <p:cNvPr id="6" name="Text 3"/>
          <p:cNvSpPr/>
          <p:nvPr/>
        </p:nvSpPr>
        <p:spPr>
          <a:xfrm>
            <a:off x="731520" y="2697480"/>
            <a:ext cx="2194560" cy="32004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AI Chatbots</a:t>
            </a:r>
            <a:endParaRPr lang="en-US" sz="1500" dirty="0"/>
          </a:p>
        </p:txBody>
      </p:sp>
      <p:sp>
        <p:nvSpPr>
          <p:cNvPr id="7" name="Text 4"/>
          <p:cNvSpPr/>
          <p:nvPr/>
        </p:nvSpPr>
        <p:spPr>
          <a:xfrm>
            <a:off x="731520" y="3017520"/>
            <a:ext cx="2194560" cy="777240"/>
          </a:xfrm>
          <a:prstGeom prst="rect">
            <a:avLst/>
          </a:prstGeom>
          <a:noFill/>
          <a:ln/>
        </p:spPr>
        <p:txBody>
          <a:bodyPr wrap="square" lIns="0" tIns="0" rIns="0" bIns="0" rtlCol="0" anchor="ctr"/>
          <a:lstStyle/>
          <a:p>
            <a:pPr indent="0" marL="0">
              <a:buNone/>
            </a:pPr>
            <a:r>
              <a:rPr lang="en-US" sz="1000" dirty="0">
                <a:solidFill>
                  <a:srgbClr val="F7F2E8"/>
                </a:solidFill>
                <a:latin typeface="Calibri" pitchFamily="34" charset="0"/>
                <a:ea typeface="Calibri" pitchFamily="34" charset="-122"/>
                <a:cs typeface="Calibri" pitchFamily="34" charset="-120"/>
              </a:rPr>
              <a:t>Capture leads 24/7. Answer FAQs, book appointments, and qualify prospects while you sleep.</a:t>
            </a:r>
            <a:endParaRPr lang="en-US" sz="1000" dirty="0"/>
          </a:p>
        </p:txBody>
      </p:sp>
      <p:sp>
        <p:nvSpPr>
          <p:cNvPr id="8" name="Text 5"/>
          <p:cNvSpPr/>
          <p:nvPr/>
        </p:nvSpPr>
        <p:spPr>
          <a:xfrm>
            <a:off x="731520" y="3840480"/>
            <a:ext cx="2194560" cy="502920"/>
          </a:xfrm>
          <a:prstGeom prst="rect">
            <a:avLst/>
          </a:prstGeom>
          <a:noFill/>
          <a:ln/>
        </p:spPr>
        <p:txBody>
          <a:bodyPr wrap="square" lIns="0" tIns="0" rIns="0" bIns="0" rtlCol="0" anchor="ctr"/>
          <a:lstStyle/>
          <a:p>
            <a:pPr indent="0" marL="0">
              <a:buNone/>
            </a:pPr>
            <a:r>
              <a:rPr lang="en-US" sz="3200" b="1" dirty="0">
                <a:solidFill>
                  <a:srgbClr val="C4892A"/>
                </a:solidFill>
                <a:latin typeface="Georgia" pitchFamily="34" charset="0"/>
                <a:ea typeface="Georgia" pitchFamily="34" charset="-122"/>
                <a:cs typeface="Georgia" pitchFamily="34" charset="-120"/>
              </a:rPr>
              <a:t>3x</a:t>
            </a:r>
            <a:endParaRPr lang="en-US" sz="3200" dirty="0"/>
          </a:p>
        </p:txBody>
      </p:sp>
      <p:sp>
        <p:nvSpPr>
          <p:cNvPr id="9" name="Text 6"/>
          <p:cNvSpPr/>
          <p:nvPr/>
        </p:nvSpPr>
        <p:spPr>
          <a:xfrm>
            <a:off x="731520" y="4297680"/>
            <a:ext cx="2194560" cy="274320"/>
          </a:xfrm>
          <a:prstGeom prst="rect">
            <a:avLst/>
          </a:prstGeom>
          <a:noFill/>
          <a:ln/>
        </p:spPr>
        <p:txBody>
          <a:bodyPr wrap="square" lIns="0" tIns="0" rIns="0" bIns="0" rtlCol="0" anchor="ctr"/>
          <a:lstStyle/>
          <a:p>
            <a:pPr indent="0" marL="0">
              <a:buNone/>
            </a:pPr>
            <a:r>
              <a:rPr lang="en-US" sz="1000" dirty="0">
                <a:solidFill>
                  <a:srgbClr val="F7F2E8"/>
                </a:solidFill>
                <a:latin typeface="Calibri" pitchFamily="34" charset="0"/>
                <a:ea typeface="Calibri" pitchFamily="34" charset="-122"/>
                <a:cs typeface="Calibri" pitchFamily="34" charset="-120"/>
              </a:rPr>
              <a:t>more leads captured</a:t>
            </a:r>
            <a:endParaRPr lang="en-US" sz="1000" dirty="0"/>
          </a:p>
        </p:txBody>
      </p:sp>
      <p:sp>
        <p:nvSpPr>
          <p:cNvPr id="10" name="Shape 7"/>
          <p:cNvSpPr/>
          <p:nvPr/>
        </p:nvSpPr>
        <p:spPr>
          <a:xfrm>
            <a:off x="3383280" y="2011680"/>
            <a:ext cx="2560320" cy="2743200"/>
          </a:xfrm>
          <a:prstGeom prst="rect">
            <a:avLst/>
          </a:prstGeom>
          <a:solidFill>
            <a:srgbClr val="3A6A42"/>
          </a:solidFill>
          <a:ln/>
          <a:effectLst>
            <a:outerShdw sx="100000" sy="100000" kx="0" ky="0" algn="bl" rotWithShape="0" blurRad="50800" dist="25400" dir="8100000">
              <a:srgbClr val="000000">
                <a:alpha val="10000"/>
              </a:srgbClr>
            </a:outerShdw>
          </a:effectLst>
        </p:spPr>
      </p:sp>
      <p:pic>
        <p:nvPicPr>
          <p:cNvPr id="11" name="Image 1" descr="preencoded.png">    </p:cNvPr>
          <p:cNvPicPr>
            <a:picLocks noChangeAspect="1"/>
          </p:cNvPicPr>
          <p:nvPr/>
        </p:nvPicPr>
        <p:blipFill>
          <a:blip r:embed="rId2"/>
          <a:stretch>
            <a:fillRect/>
          </a:stretch>
        </p:blipFill>
        <p:spPr>
          <a:xfrm>
            <a:off x="3566160" y="2240280"/>
            <a:ext cx="411480" cy="411480"/>
          </a:xfrm>
          <a:prstGeom prst="rect">
            <a:avLst/>
          </a:prstGeom>
        </p:spPr>
      </p:pic>
      <p:sp>
        <p:nvSpPr>
          <p:cNvPr id="12" name="Text 8"/>
          <p:cNvSpPr/>
          <p:nvPr/>
        </p:nvSpPr>
        <p:spPr>
          <a:xfrm>
            <a:off x="3566160" y="2697480"/>
            <a:ext cx="2194560" cy="32004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Smart Follow-Ups</a:t>
            </a:r>
            <a:endParaRPr lang="en-US" sz="1500" dirty="0"/>
          </a:p>
        </p:txBody>
      </p:sp>
      <p:sp>
        <p:nvSpPr>
          <p:cNvPr id="13" name="Text 9"/>
          <p:cNvSpPr/>
          <p:nvPr/>
        </p:nvSpPr>
        <p:spPr>
          <a:xfrm>
            <a:off x="3566160" y="3017520"/>
            <a:ext cx="2194560" cy="777240"/>
          </a:xfrm>
          <a:prstGeom prst="rect">
            <a:avLst/>
          </a:prstGeom>
          <a:noFill/>
          <a:ln/>
        </p:spPr>
        <p:txBody>
          <a:bodyPr wrap="square" lIns="0" tIns="0" rIns="0" bIns="0" rtlCol="0" anchor="ctr"/>
          <a:lstStyle/>
          <a:p>
            <a:pPr indent="0" marL="0">
              <a:buNone/>
            </a:pPr>
            <a:r>
              <a:rPr lang="en-US" sz="1000" dirty="0">
                <a:solidFill>
                  <a:srgbClr val="F7F2E8"/>
                </a:solidFill>
                <a:latin typeface="Calibri" pitchFamily="34" charset="0"/>
                <a:ea typeface="Calibri" pitchFamily="34" charset="-122"/>
                <a:cs typeface="Calibri" pitchFamily="34" charset="-120"/>
              </a:rPr>
              <a:t>Automated email and text sequences triggered by visitor behavior. No lead falls through the cracks.</a:t>
            </a:r>
            <a:endParaRPr lang="en-US" sz="1000" dirty="0"/>
          </a:p>
        </p:txBody>
      </p:sp>
      <p:sp>
        <p:nvSpPr>
          <p:cNvPr id="14" name="Text 10"/>
          <p:cNvSpPr/>
          <p:nvPr/>
        </p:nvSpPr>
        <p:spPr>
          <a:xfrm>
            <a:off x="3566160" y="3840480"/>
            <a:ext cx="2194560" cy="502920"/>
          </a:xfrm>
          <a:prstGeom prst="rect">
            <a:avLst/>
          </a:prstGeom>
          <a:noFill/>
          <a:ln/>
        </p:spPr>
        <p:txBody>
          <a:bodyPr wrap="square" lIns="0" tIns="0" rIns="0" bIns="0" rtlCol="0" anchor="ctr"/>
          <a:lstStyle/>
          <a:p>
            <a:pPr indent="0" marL="0">
              <a:buNone/>
            </a:pPr>
            <a:r>
              <a:rPr lang="en-US" sz="3200" b="1" dirty="0">
                <a:solidFill>
                  <a:srgbClr val="C4892A"/>
                </a:solidFill>
                <a:latin typeface="Georgia" pitchFamily="34" charset="0"/>
                <a:ea typeface="Georgia" pitchFamily="34" charset="-122"/>
                <a:cs typeface="Georgia" pitchFamily="34" charset="-120"/>
              </a:rPr>
              <a:t>67%</a:t>
            </a:r>
            <a:endParaRPr lang="en-US" sz="3200" dirty="0"/>
          </a:p>
        </p:txBody>
      </p:sp>
      <p:sp>
        <p:nvSpPr>
          <p:cNvPr id="15" name="Text 11"/>
          <p:cNvSpPr/>
          <p:nvPr/>
        </p:nvSpPr>
        <p:spPr>
          <a:xfrm>
            <a:off x="3566160" y="4297680"/>
            <a:ext cx="2194560" cy="274320"/>
          </a:xfrm>
          <a:prstGeom prst="rect">
            <a:avLst/>
          </a:prstGeom>
          <a:noFill/>
          <a:ln/>
        </p:spPr>
        <p:txBody>
          <a:bodyPr wrap="square" lIns="0" tIns="0" rIns="0" bIns="0" rtlCol="0" anchor="ctr"/>
          <a:lstStyle/>
          <a:p>
            <a:pPr indent="0" marL="0">
              <a:buNone/>
            </a:pPr>
            <a:r>
              <a:rPr lang="en-US" sz="1000" dirty="0">
                <a:solidFill>
                  <a:srgbClr val="F7F2E8"/>
                </a:solidFill>
                <a:latin typeface="Calibri" pitchFamily="34" charset="0"/>
                <a:ea typeface="Calibri" pitchFamily="34" charset="-122"/>
                <a:cs typeface="Calibri" pitchFamily="34" charset="-120"/>
              </a:rPr>
              <a:t>faster response time</a:t>
            </a:r>
            <a:endParaRPr lang="en-US" sz="1000" dirty="0"/>
          </a:p>
        </p:txBody>
      </p:sp>
      <p:sp>
        <p:nvSpPr>
          <p:cNvPr id="16" name="Shape 12"/>
          <p:cNvSpPr/>
          <p:nvPr/>
        </p:nvSpPr>
        <p:spPr>
          <a:xfrm>
            <a:off x="6217920" y="2011680"/>
            <a:ext cx="2560320" cy="2743200"/>
          </a:xfrm>
          <a:prstGeom prst="rect">
            <a:avLst/>
          </a:prstGeom>
          <a:solidFill>
            <a:srgbClr val="3A6A42"/>
          </a:solidFill>
          <a:ln/>
          <a:effectLst>
            <a:outerShdw sx="100000" sy="100000" kx="0" ky="0" algn="bl" rotWithShape="0" blurRad="50800" dist="25400" dir="8100000">
              <a:srgbClr val="000000">
                <a:alpha val="10000"/>
              </a:srgbClr>
            </a:outerShdw>
          </a:effectLst>
        </p:spPr>
      </p:sp>
      <p:pic>
        <p:nvPicPr>
          <p:cNvPr id="17" name="Image 2" descr="preencoded.png">    </p:cNvPr>
          <p:cNvPicPr>
            <a:picLocks noChangeAspect="1"/>
          </p:cNvPicPr>
          <p:nvPr/>
        </p:nvPicPr>
        <p:blipFill>
          <a:blip r:embed="rId3"/>
          <a:stretch>
            <a:fillRect/>
          </a:stretch>
        </p:blipFill>
        <p:spPr>
          <a:xfrm>
            <a:off x="6400800" y="2240280"/>
            <a:ext cx="411480" cy="411480"/>
          </a:xfrm>
          <a:prstGeom prst="rect">
            <a:avLst/>
          </a:prstGeom>
        </p:spPr>
      </p:pic>
      <p:sp>
        <p:nvSpPr>
          <p:cNvPr id="18" name="Text 13"/>
          <p:cNvSpPr/>
          <p:nvPr/>
        </p:nvSpPr>
        <p:spPr>
          <a:xfrm>
            <a:off x="6400800" y="2697480"/>
            <a:ext cx="2194560" cy="32004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Auto Scheduling</a:t>
            </a:r>
            <a:endParaRPr lang="en-US" sz="1500" dirty="0"/>
          </a:p>
        </p:txBody>
      </p:sp>
      <p:sp>
        <p:nvSpPr>
          <p:cNvPr id="19" name="Text 14"/>
          <p:cNvSpPr/>
          <p:nvPr/>
        </p:nvSpPr>
        <p:spPr>
          <a:xfrm>
            <a:off x="6400800" y="3017520"/>
            <a:ext cx="2194560" cy="777240"/>
          </a:xfrm>
          <a:prstGeom prst="rect">
            <a:avLst/>
          </a:prstGeom>
          <a:noFill/>
          <a:ln/>
        </p:spPr>
        <p:txBody>
          <a:bodyPr wrap="square" lIns="0" tIns="0" rIns="0" bIns="0" rtlCol="0" anchor="ctr"/>
          <a:lstStyle/>
          <a:p>
            <a:pPr indent="0" marL="0">
              <a:buNone/>
            </a:pPr>
            <a:r>
              <a:rPr lang="en-US" sz="1000" dirty="0">
                <a:solidFill>
                  <a:srgbClr val="F7F2E8"/>
                </a:solidFill>
                <a:latin typeface="Calibri" pitchFamily="34" charset="0"/>
                <a:ea typeface="Calibri" pitchFamily="34" charset="-122"/>
                <a:cs typeface="Calibri" pitchFamily="34" charset="-120"/>
              </a:rPr>
              <a:t>Clients book directly into your calendar. No phone tag, no missed opportunities.</a:t>
            </a:r>
            <a:endParaRPr lang="en-US" sz="1000" dirty="0"/>
          </a:p>
        </p:txBody>
      </p:sp>
      <p:sp>
        <p:nvSpPr>
          <p:cNvPr id="20" name="Text 15"/>
          <p:cNvSpPr/>
          <p:nvPr/>
        </p:nvSpPr>
        <p:spPr>
          <a:xfrm>
            <a:off x="6400800" y="3840480"/>
            <a:ext cx="2194560" cy="502920"/>
          </a:xfrm>
          <a:prstGeom prst="rect">
            <a:avLst/>
          </a:prstGeom>
          <a:noFill/>
          <a:ln/>
        </p:spPr>
        <p:txBody>
          <a:bodyPr wrap="square" lIns="0" tIns="0" rIns="0" bIns="0" rtlCol="0" anchor="ctr"/>
          <a:lstStyle/>
          <a:p>
            <a:pPr indent="0" marL="0">
              <a:buNone/>
            </a:pPr>
            <a:r>
              <a:rPr lang="en-US" sz="3200" b="1" dirty="0">
                <a:solidFill>
                  <a:srgbClr val="C4892A"/>
                </a:solidFill>
                <a:latin typeface="Georgia" pitchFamily="34" charset="0"/>
                <a:ea typeface="Georgia" pitchFamily="34" charset="-122"/>
                <a:cs typeface="Georgia" pitchFamily="34" charset="-120"/>
              </a:rPr>
              <a:t>24/7</a:t>
            </a:r>
            <a:endParaRPr lang="en-US" sz="3200" dirty="0"/>
          </a:p>
        </p:txBody>
      </p:sp>
      <p:sp>
        <p:nvSpPr>
          <p:cNvPr id="21" name="Text 16"/>
          <p:cNvSpPr/>
          <p:nvPr/>
        </p:nvSpPr>
        <p:spPr>
          <a:xfrm>
            <a:off x="6400800" y="4297680"/>
            <a:ext cx="2194560" cy="274320"/>
          </a:xfrm>
          <a:prstGeom prst="rect">
            <a:avLst/>
          </a:prstGeom>
          <a:noFill/>
          <a:ln/>
        </p:spPr>
        <p:txBody>
          <a:bodyPr wrap="square" lIns="0" tIns="0" rIns="0" bIns="0" rtlCol="0" anchor="ctr"/>
          <a:lstStyle/>
          <a:p>
            <a:pPr indent="0" marL="0">
              <a:buNone/>
            </a:pPr>
            <a:r>
              <a:rPr lang="en-US" sz="1000" dirty="0">
                <a:solidFill>
                  <a:srgbClr val="F7F2E8"/>
                </a:solidFill>
                <a:latin typeface="Calibri" pitchFamily="34" charset="0"/>
                <a:ea typeface="Calibri" pitchFamily="34" charset="-122"/>
                <a:cs typeface="Calibri" pitchFamily="34" charset="-120"/>
              </a:rPr>
              <a:t>booking availability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48640" y="365760"/>
            <a:ext cx="3657600" cy="457200"/>
          </a:xfrm>
          <a:prstGeom prst="rect">
            <a:avLst/>
          </a:prstGeom>
          <a:noFill/>
          <a:ln/>
        </p:spPr>
        <p:txBody>
          <a:bodyPr wrap="square" lIns="0" tIns="0" rIns="0" bIns="0" rtlCol="0" anchor="ctr"/>
          <a:lstStyle/>
          <a:p>
            <a:pPr indent="0" marL="0">
              <a:buNone/>
            </a:pPr>
            <a:r>
              <a:rPr lang="en-US" sz="1200" b="1" spc="300" kern="0" dirty="0">
                <a:solidFill>
                  <a:srgbClr val="C4892A"/>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777240"/>
            <a:ext cx="7772400" cy="548640"/>
          </a:xfrm>
          <a:prstGeom prst="rect">
            <a:avLst/>
          </a:prstGeom>
          <a:noFill/>
          <a:ln/>
        </p:spPr>
        <p:txBody>
          <a:bodyPr wrap="square" lIns="0" tIns="0" rIns="0" bIns="0" rtlCol="0" anchor="ctr"/>
          <a:lstStyle/>
          <a:p>
            <a:pPr indent="0" marL="0">
              <a:buNone/>
            </a:pPr>
            <a:r>
              <a:rPr lang="en-US" sz="3200" b="1" dirty="0">
                <a:solidFill>
                  <a:srgbClr val="232823"/>
                </a:solidFill>
                <a:latin typeface="Georgia" pitchFamily="34" charset="0"/>
                <a:ea typeface="Georgia" pitchFamily="34" charset="-122"/>
                <a:cs typeface="Georgia" pitchFamily="34" charset="-120"/>
              </a:rPr>
              <a:t>From Idea to Launch in 2–4 Weeks</a:t>
            </a:r>
            <a:endParaRPr lang="en-US" sz="3200" dirty="0"/>
          </a:p>
        </p:txBody>
      </p:sp>
      <p:sp>
        <p:nvSpPr>
          <p:cNvPr id="4" name="Shape 2"/>
          <p:cNvSpPr/>
          <p:nvPr/>
        </p:nvSpPr>
        <p:spPr>
          <a:xfrm>
            <a:off x="960120" y="1645920"/>
            <a:ext cx="914400" cy="914400"/>
          </a:xfrm>
          <a:prstGeom prst="ellipse">
            <a:avLst/>
          </a:prstGeom>
          <a:solidFill>
            <a:srgbClr val="2A4A30"/>
          </a:solidFill>
          <a:ln/>
        </p:spPr>
      </p:sp>
      <p:pic>
        <p:nvPicPr>
          <p:cNvPr id="5" name="Image 0" descr="preencoded.png">    </p:cNvPr>
          <p:cNvPicPr>
            <a:picLocks noChangeAspect="1"/>
          </p:cNvPicPr>
          <p:nvPr/>
        </p:nvPicPr>
        <p:blipFill>
          <a:blip r:embed="rId1"/>
          <a:stretch>
            <a:fillRect/>
          </a:stretch>
        </p:blipFill>
        <p:spPr>
          <a:xfrm>
            <a:off x="1188720" y="1874520"/>
            <a:ext cx="457200" cy="457200"/>
          </a:xfrm>
          <a:prstGeom prst="rect">
            <a:avLst/>
          </a:prstGeom>
        </p:spPr>
      </p:pic>
      <p:pic>
        <p:nvPicPr>
          <p:cNvPr id="6" name="Image 1" descr="preencoded.png">    </p:cNvPr>
          <p:cNvPicPr>
            <a:picLocks noChangeAspect="1"/>
          </p:cNvPicPr>
          <p:nvPr/>
        </p:nvPicPr>
        <p:blipFill>
          <a:blip r:embed="rId2"/>
          <a:stretch>
            <a:fillRect/>
          </a:stretch>
        </p:blipFill>
        <p:spPr>
          <a:xfrm>
            <a:off x="2011680" y="1920240"/>
            <a:ext cx="365760" cy="365760"/>
          </a:xfrm>
          <a:prstGeom prst="rect">
            <a:avLst/>
          </a:prstGeom>
        </p:spPr>
      </p:pic>
      <p:sp>
        <p:nvSpPr>
          <p:cNvPr id="7" name="Text 3"/>
          <p:cNvSpPr/>
          <p:nvPr/>
        </p:nvSpPr>
        <p:spPr>
          <a:xfrm>
            <a:off x="457200" y="2743200"/>
            <a:ext cx="1920240" cy="365760"/>
          </a:xfrm>
          <a:prstGeom prst="rect">
            <a:avLst/>
          </a:prstGeom>
          <a:noFill/>
          <a:ln/>
        </p:spPr>
        <p:txBody>
          <a:bodyPr wrap="square" lIns="0" tIns="0" rIns="0" bIns="0" rtlCol="0" anchor="ctr"/>
          <a:lstStyle/>
          <a:p>
            <a:pPr algn="ctr" indent="0" marL="0">
              <a:buNone/>
            </a:pPr>
            <a:r>
              <a:rPr lang="en-US" sz="1400" b="1" dirty="0">
                <a:solidFill>
                  <a:srgbClr val="C4892A"/>
                </a:solidFill>
                <a:latin typeface="Calibri" pitchFamily="34" charset="0"/>
                <a:ea typeface="Calibri" pitchFamily="34" charset="-122"/>
                <a:cs typeface="Calibri" pitchFamily="34" charset="-120"/>
              </a:rPr>
              <a:t>01</a:t>
            </a:r>
            <a:endParaRPr lang="en-US" sz="1400" dirty="0"/>
          </a:p>
        </p:txBody>
      </p:sp>
      <p:sp>
        <p:nvSpPr>
          <p:cNvPr id="8" name="Text 4"/>
          <p:cNvSpPr/>
          <p:nvPr/>
        </p:nvSpPr>
        <p:spPr>
          <a:xfrm>
            <a:off x="457200" y="3063240"/>
            <a:ext cx="1920240" cy="365760"/>
          </a:xfrm>
          <a:prstGeom prst="rect">
            <a:avLst/>
          </a:prstGeom>
          <a:noFill/>
          <a:ln/>
        </p:spPr>
        <p:txBody>
          <a:bodyPr wrap="square" lIns="0" tIns="0" rIns="0" bIns="0" rtlCol="0" anchor="ctr"/>
          <a:lstStyle/>
          <a:p>
            <a:pPr algn="ctr" indent="0" marL="0">
              <a:buNone/>
            </a:pPr>
            <a:r>
              <a:rPr lang="en-US" sz="1800" b="1" dirty="0">
                <a:solidFill>
                  <a:srgbClr val="232823"/>
                </a:solidFill>
                <a:latin typeface="Georgia" pitchFamily="34" charset="0"/>
                <a:ea typeface="Georgia" pitchFamily="34" charset="-122"/>
                <a:cs typeface="Georgia" pitchFamily="34" charset="-120"/>
              </a:rPr>
              <a:t>Discovery</a:t>
            </a:r>
            <a:endParaRPr lang="en-US" sz="1800" dirty="0"/>
          </a:p>
        </p:txBody>
      </p:sp>
      <p:sp>
        <p:nvSpPr>
          <p:cNvPr id="9" name="Text 5"/>
          <p:cNvSpPr/>
          <p:nvPr/>
        </p:nvSpPr>
        <p:spPr>
          <a:xfrm>
            <a:off x="548640" y="3429000"/>
            <a:ext cx="1737360" cy="731520"/>
          </a:xfrm>
          <a:prstGeom prst="rect">
            <a:avLst/>
          </a:prstGeom>
          <a:noFill/>
          <a:ln/>
        </p:spPr>
        <p:txBody>
          <a:bodyPr wrap="square" lIns="0" tIns="0" rIns="0" bIns="0"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We learn your business, goals, and customers. Deep-dive consultation.</a:t>
            </a:r>
            <a:endParaRPr lang="en-US" sz="1000" dirty="0"/>
          </a:p>
        </p:txBody>
      </p:sp>
      <p:sp>
        <p:nvSpPr>
          <p:cNvPr id="10" name="Shape 6"/>
          <p:cNvSpPr/>
          <p:nvPr/>
        </p:nvSpPr>
        <p:spPr>
          <a:xfrm>
            <a:off x="3154680" y="1645920"/>
            <a:ext cx="914400" cy="914400"/>
          </a:xfrm>
          <a:prstGeom prst="ellipse">
            <a:avLst/>
          </a:prstGeom>
          <a:solidFill>
            <a:srgbClr val="2A4A30"/>
          </a:solidFill>
          <a:ln/>
        </p:spPr>
      </p:sp>
      <p:pic>
        <p:nvPicPr>
          <p:cNvPr id="11" name="Image 2" descr="preencoded.png">    </p:cNvPr>
          <p:cNvPicPr>
            <a:picLocks noChangeAspect="1"/>
          </p:cNvPicPr>
          <p:nvPr/>
        </p:nvPicPr>
        <p:blipFill>
          <a:blip r:embed="rId3"/>
          <a:stretch>
            <a:fillRect/>
          </a:stretch>
        </p:blipFill>
        <p:spPr>
          <a:xfrm>
            <a:off x="3383280" y="1874520"/>
            <a:ext cx="457200" cy="457200"/>
          </a:xfrm>
          <a:prstGeom prst="rect">
            <a:avLst/>
          </a:prstGeom>
        </p:spPr>
      </p:pic>
      <p:pic>
        <p:nvPicPr>
          <p:cNvPr id="12" name="Image 3" descr="preencoded.png">    </p:cNvPr>
          <p:cNvPicPr>
            <a:picLocks noChangeAspect="1"/>
          </p:cNvPicPr>
          <p:nvPr/>
        </p:nvPicPr>
        <p:blipFill>
          <a:blip r:embed="rId4"/>
          <a:stretch>
            <a:fillRect/>
          </a:stretch>
        </p:blipFill>
        <p:spPr>
          <a:xfrm>
            <a:off x="4206240" y="1920240"/>
            <a:ext cx="365760" cy="365760"/>
          </a:xfrm>
          <a:prstGeom prst="rect">
            <a:avLst/>
          </a:prstGeom>
        </p:spPr>
      </p:pic>
      <p:sp>
        <p:nvSpPr>
          <p:cNvPr id="13" name="Text 7"/>
          <p:cNvSpPr/>
          <p:nvPr/>
        </p:nvSpPr>
        <p:spPr>
          <a:xfrm>
            <a:off x="2651760" y="2743200"/>
            <a:ext cx="1920240" cy="365760"/>
          </a:xfrm>
          <a:prstGeom prst="rect">
            <a:avLst/>
          </a:prstGeom>
          <a:noFill/>
          <a:ln/>
        </p:spPr>
        <p:txBody>
          <a:bodyPr wrap="square" lIns="0" tIns="0" rIns="0" bIns="0" rtlCol="0" anchor="ctr"/>
          <a:lstStyle/>
          <a:p>
            <a:pPr algn="ctr" indent="0" marL="0">
              <a:buNone/>
            </a:pPr>
            <a:r>
              <a:rPr lang="en-US" sz="1400" b="1" dirty="0">
                <a:solidFill>
                  <a:srgbClr val="C4892A"/>
                </a:solidFill>
                <a:latin typeface="Calibri" pitchFamily="34" charset="0"/>
                <a:ea typeface="Calibri" pitchFamily="34" charset="-122"/>
                <a:cs typeface="Calibri" pitchFamily="34" charset="-120"/>
              </a:rPr>
              <a:t>02</a:t>
            </a:r>
            <a:endParaRPr lang="en-US" sz="1400" dirty="0"/>
          </a:p>
        </p:txBody>
      </p:sp>
      <p:sp>
        <p:nvSpPr>
          <p:cNvPr id="14" name="Text 8"/>
          <p:cNvSpPr/>
          <p:nvPr/>
        </p:nvSpPr>
        <p:spPr>
          <a:xfrm>
            <a:off x="2651760" y="3063240"/>
            <a:ext cx="1920240" cy="365760"/>
          </a:xfrm>
          <a:prstGeom prst="rect">
            <a:avLst/>
          </a:prstGeom>
          <a:noFill/>
          <a:ln/>
        </p:spPr>
        <p:txBody>
          <a:bodyPr wrap="square" lIns="0" tIns="0" rIns="0" bIns="0" rtlCol="0" anchor="ctr"/>
          <a:lstStyle/>
          <a:p>
            <a:pPr algn="ctr" indent="0" marL="0">
              <a:buNone/>
            </a:pPr>
            <a:r>
              <a:rPr lang="en-US" sz="1800" b="1" dirty="0">
                <a:solidFill>
                  <a:srgbClr val="232823"/>
                </a:solidFill>
                <a:latin typeface="Georgia" pitchFamily="34" charset="0"/>
                <a:ea typeface="Georgia" pitchFamily="34" charset="-122"/>
                <a:cs typeface="Georgia" pitchFamily="34" charset="-120"/>
              </a:rPr>
              <a:t>Design</a:t>
            </a:r>
            <a:endParaRPr lang="en-US" sz="1800" dirty="0"/>
          </a:p>
        </p:txBody>
      </p:sp>
      <p:sp>
        <p:nvSpPr>
          <p:cNvPr id="15" name="Text 9"/>
          <p:cNvSpPr/>
          <p:nvPr/>
        </p:nvSpPr>
        <p:spPr>
          <a:xfrm>
            <a:off x="2743200" y="3429000"/>
            <a:ext cx="1737360" cy="731520"/>
          </a:xfrm>
          <a:prstGeom prst="rect">
            <a:avLst/>
          </a:prstGeom>
          <a:noFill/>
          <a:ln/>
        </p:spPr>
        <p:txBody>
          <a:bodyPr wrap="square" lIns="0" tIns="0" rIns="0" bIns="0"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Custom mockups and brand-aligned wireframes. You approve every detail.</a:t>
            </a:r>
            <a:endParaRPr lang="en-US" sz="1000" dirty="0"/>
          </a:p>
        </p:txBody>
      </p:sp>
      <p:sp>
        <p:nvSpPr>
          <p:cNvPr id="16" name="Shape 10"/>
          <p:cNvSpPr/>
          <p:nvPr/>
        </p:nvSpPr>
        <p:spPr>
          <a:xfrm>
            <a:off x="5349240" y="1645920"/>
            <a:ext cx="914400" cy="914400"/>
          </a:xfrm>
          <a:prstGeom prst="ellipse">
            <a:avLst/>
          </a:prstGeom>
          <a:solidFill>
            <a:srgbClr val="2A4A30"/>
          </a:solidFill>
          <a:ln/>
        </p:spPr>
      </p:sp>
      <p:pic>
        <p:nvPicPr>
          <p:cNvPr id="17" name="Image 4" descr="preencoded.png">    </p:cNvPr>
          <p:cNvPicPr>
            <a:picLocks noChangeAspect="1"/>
          </p:cNvPicPr>
          <p:nvPr/>
        </p:nvPicPr>
        <p:blipFill>
          <a:blip r:embed="rId5"/>
          <a:stretch>
            <a:fillRect/>
          </a:stretch>
        </p:blipFill>
        <p:spPr>
          <a:xfrm>
            <a:off x="5577840" y="1874520"/>
            <a:ext cx="457200" cy="457200"/>
          </a:xfrm>
          <a:prstGeom prst="rect">
            <a:avLst/>
          </a:prstGeom>
        </p:spPr>
      </p:pic>
      <p:pic>
        <p:nvPicPr>
          <p:cNvPr id="18" name="Image 5" descr="preencoded.png">    </p:cNvPr>
          <p:cNvPicPr>
            <a:picLocks noChangeAspect="1"/>
          </p:cNvPicPr>
          <p:nvPr/>
        </p:nvPicPr>
        <p:blipFill>
          <a:blip r:embed="rId6"/>
          <a:stretch>
            <a:fillRect/>
          </a:stretch>
        </p:blipFill>
        <p:spPr>
          <a:xfrm>
            <a:off x="6400800" y="1920240"/>
            <a:ext cx="365760" cy="365760"/>
          </a:xfrm>
          <a:prstGeom prst="rect">
            <a:avLst/>
          </a:prstGeom>
        </p:spPr>
      </p:pic>
      <p:sp>
        <p:nvSpPr>
          <p:cNvPr id="19" name="Text 11"/>
          <p:cNvSpPr/>
          <p:nvPr/>
        </p:nvSpPr>
        <p:spPr>
          <a:xfrm>
            <a:off x="4846320" y="2743200"/>
            <a:ext cx="1920240" cy="365760"/>
          </a:xfrm>
          <a:prstGeom prst="rect">
            <a:avLst/>
          </a:prstGeom>
          <a:noFill/>
          <a:ln/>
        </p:spPr>
        <p:txBody>
          <a:bodyPr wrap="square" lIns="0" tIns="0" rIns="0" bIns="0" rtlCol="0" anchor="ctr"/>
          <a:lstStyle/>
          <a:p>
            <a:pPr algn="ctr" indent="0" marL="0">
              <a:buNone/>
            </a:pPr>
            <a:r>
              <a:rPr lang="en-US" sz="1400" b="1" dirty="0">
                <a:solidFill>
                  <a:srgbClr val="C4892A"/>
                </a:solidFill>
                <a:latin typeface="Calibri" pitchFamily="34" charset="0"/>
                <a:ea typeface="Calibri" pitchFamily="34" charset="-122"/>
                <a:cs typeface="Calibri" pitchFamily="34" charset="-120"/>
              </a:rPr>
              <a:t>03</a:t>
            </a:r>
            <a:endParaRPr lang="en-US" sz="1400" dirty="0"/>
          </a:p>
        </p:txBody>
      </p:sp>
      <p:sp>
        <p:nvSpPr>
          <p:cNvPr id="20" name="Text 12"/>
          <p:cNvSpPr/>
          <p:nvPr/>
        </p:nvSpPr>
        <p:spPr>
          <a:xfrm>
            <a:off x="4846320" y="3063240"/>
            <a:ext cx="1920240" cy="365760"/>
          </a:xfrm>
          <a:prstGeom prst="rect">
            <a:avLst/>
          </a:prstGeom>
          <a:noFill/>
          <a:ln/>
        </p:spPr>
        <p:txBody>
          <a:bodyPr wrap="square" lIns="0" tIns="0" rIns="0" bIns="0" rtlCol="0" anchor="ctr"/>
          <a:lstStyle/>
          <a:p>
            <a:pPr algn="ctr" indent="0" marL="0">
              <a:buNone/>
            </a:pPr>
            <a:r>
              <a:rPr lang="en-US" sz="1800" b="1" dirty="0">
                <a:solidFill>
                  <a:srgbClr val="232823"/>
                </a:solidFill>
                <a:latin typeface="Georgia" pitchFamily="34" charset="0"/>
                <a:ea typeface="Georgia" pitchFamily="34" charset="-122"/>
                <a:cs typeface="Georgia" pitchFamily="34" charset="-120"/>
              </a:rPr>
              <a:t>Build</a:t>
            </a:r>
            <a:endParaRPr lang="en-US" sz="1800" dirty="0"/>
          </a:p>
        </p:txBody>
      </p:sp>
      <p:sp>
        <p:nvSpPr>
          <p:cNvPr id="21" name="Text 13"/>
          <p:cNvSpPr/>
          <p:nvPr/>
        </p:nvSpPr>
        <p:spPr>
          <a:xfrm>
            <a:off x="4937760" y="3429000"/>
            <a:ext cx="1737360" cy="731520"/>
          </a:xfrm>
          <a:prstGeom prst="rect">
            <a:avLst/>
          </a:prstGeom>
          <a:noFill/>
          <a:ln/>
        </p:spPr>
        <p:txBody>
          <a:bodyPr wrap="square" lIns="0" tIns="0" rIns="0" bIns="0"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Development, AI integration, and testing. We handle everything.</a:t>
            </a:r>
            <a:endParaRPr lang="en-US" sz="1000" dirty="0"/>
          </a:p>
        </p:txBody>
      </p:sp>
      <p:sp>
        <p:nvSpPr>
          <p:cNvPr id="22" name="Shape 14"/>
          <p:cNvSpPr/>
          <p:nvPr/>
        </p:nvSpPr>
        <p:spPr>
          <a:xfrm>
            <a:off x="7543800" y="1645920"/>
            <a:ext cx="914400" cy="914400"/>
          </a:xfrm>
          <a:prstGeom prst="ellipse">
            <a:avLst/>
          </a:prstGeom>
          <a:solidFill>
            <a:srgbClr val="2A4A30"/>
          </a:solidFill>
          <a:ln/>
        </p:spPr>
      </p:sp>
      <p:pic>
        <p:nvPicPr>
          <p:cNvPr id="23" name="Image 6" descr="preencoded.png">    </p:cNvPr>
          <p:cNvPicPr>
            <a:picLocks noChangeAspect="1"/>
          </p:cNvPicPr>
          <p:nvPr/>
        </p:nvPicPr>
        <p:blipFill>
          <a:blip r:embed="rId7"/>
          <a:stretch>
            <a:fillRect/>
          </a:stretch>
        </p:blipFill>
        <p:spPr>
          <a:xfrm>
            <a:off x="7772400" y="1874520"/>
            <a:ext cx="457200" cy="457200"/>
          </a:xfrm>
          <a:prstGeom prst="rect">
            <a:avLst/>
          </a:prstGeom>
        </p:spPr>
      </p:pic>
      <p:sp>
        <p:nvSpPr>
          <p:cNvPr id="24" name="Text 15"/>
          <p:cNvSpPr/>
          <p:nvPr/>
        </p:nvSpPr>
        <p:spPr>
          <a:xfrm>
            <a:off x="7040880" y="2743200"/>
            <a:ext cx="1920240" cy="365760"/>
          </a:xfrm>
          <a:prstGeom prst="rect">
            <a:avLst/>
          </a:prstGeom>
          <a:noFill/>
          <a:ln/>
        </p:spPr>
        <p:txBody>
          <a:bodyPr wrap="square" lIns="0" tIns="0" rIns="0" bIns="0" rtlCol="0" anchor="ctr"/>
          <a:lstStyle/>
          <a:p>
            <a:pPr algn="ctr" indent="0" marL="0">
              <a:buNone/>
            </a:pPr>
            <a:r>
              <a:rPr lang="en-US" sz="1400" b="1" dirty="0">
                <a:solidFill>
                  <a:srgbClr val="C4892A"/>
                </a:solidFill>
                <a:latin typeface="Calibri" pitchFamily="34" charset="0"/>
                <a:ea typeface="Calibri" pitchFamily="34" charset="-122"/>
                <a:cs typeface="Calibri" pitchFamily="34" charset="-120"/>
              </a:rPr>
              <a:t>04</a:t>
            </a:r>
            <a:endParaRPr lang="en-US" sz="1400" dirty="0"/>
          </a:p>
        </p:txBody>
      </p:sp>
      <p:sp>
        <p:nvSpPr>
          <p:cNvPr id="25" name="Text 16"/>
          <p:cNvSpPr/>
          <p:nvPr/>
        </p:nvSpPr>
        <p:spPr>
          <a:xfrm>
            <a:off x="7040880" y="3063240"/>
            <a:ext cx="1920240" cy="365760"/>
          </a:xfrm>
          <a:prstGeom prst="rect">
            <a:avLst/>
          </a:prstGeom>
          <a:noFill/>
          <a:ln/>
        </p:spPr>
        <p:txBody>
          <a:bodyPr wrap="square" lIns="0" tIns="0" rIns="0" bIns="0" rtlCol="0" anchor="ctr"/>
          <a:lstStyle/>
          <a:p>
            <a:pPr algn="ctr" indent="0" marL="0">
              <a:buNone/>
            </a:pPr>
            <a:r>
              <a:rPr lang="en-US" sz="1800" b="1" dirty="0">
                <a:solidFill>
                  <a:srgbClr val="232823"/>
                </a:solidFill>
                <a:latin typeface="Georgia" pitchFamily="34" charset="0"/>
                <a:ea typeface="Georgia" pitchFamily="34" charset="-122"/>
                <a:cs typeface="Georgia" pitchFamily="34" charset="-120"/>
              </a:rPr>
              <a:t>Launch</a:t>
            </a:r>
            <a:endParaRPr lang="en-US" sz="1800" dirty="0"/>
          </a:p>
        </p:txBody>
      </p:sp>
      <p:sp>
        <p:nvSpPr>
          <p:cNvPr id="26" name="Text 17"/>
          <p:cNvSpPr/>
          <p:nvPr/>
        </p:nvSpPr>
        <p:spPr>
          <a:xfrm>
            <a:off x="7132320" y="3429000"/>
            <a:ext cx="1737360" cy="731520"/>
          </a:xfrm>
          <a:prstGeom prst="rect">
            <a:avLst/>
          </a:prstGeom>
          <a:noFill/>
          <a:ln/>
        </p:spPr>
        <p:txBody>
          <a:bodyPr wrap="square" lIns="0" tIns="0" rIns="0" bIns="0"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Go live with training and 30 days of dedicated support.</a:t>
            </a:r>
            <a:endParaRPr lang="en-US" sz="1000" dirty="0"/>
          </a:p>
        </p:txBody>
      </p:sp>
      <p:sp>
        <p:nvSpPr>
          <p:cNvPr id="27" name="Shape 18"/>
          <p:cNvSpPr/>
          <p:nvPr/>
        </p:nvSpPr>
        <p:spPr>
          <a:xfrm>
            <a:off x="457200" y="4434840"/>
            <a:ext cx="8229600" cy="411480"/>
          </a:xfrm>
          <a:prstGeom prst="rect">
            <a:avLst/>
          </a:prstGeom>
          <a:solidFill>
            <a:srgbClr val="2A4A30"/>
          </a:solidFill>
          <a:ln/>
        </p:spPr>
      </p:sp>
      <p:sp>
        <p:nvSpPr>
          <p:cNvPr id="28" name="Text 19"/>
          <p:cNvSpPr/>
          <p:nvPr/>
        </p:nvSpPr>
        <p:spPr>
          <a:xfrm>
            <a:off x="457200" y="4434840"/>
            <a:ext cx="8229600" cy="41148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Average timeline: 2–4 weeks from kickoff to launch</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4572000" cy="457200"/>
          </a:xfrm>
          <a:prstGeom prst="rect">
            <a:avLst/>
          </a:prstGeom>
          <a:noFill/>
          <a:ln/>
        </p:spPr>
        <p:txBody>
          <a:bodyPr wrap="square" lIns="0" tIns="0" rIns="0" bIns="0" rtlCol="0" anchor="ctr"/>
          <a:lstStyle/>
          <a:p>
            <a:pPr indent="0" marL="0">
              <a:buNone/>
            </a:pPr>
            <a:r>
              <a:rPr lang="en-US" sz="1200" b="1" spc="300" kern="0" dirty="0">
                <a:solidFill>
                  <a:srgbClr val="C4892A"/>
                </a:solidFill>
                <a:latin typeface="Calibri" pitchFamily="34" charset="0"/>
                <a:ea typeface="Calibri" pitchFamily="34" charset="-122"/>
                <a:cs typeface="Calibri" pitchFamily="34" charset="-120"/>
              </a:rPr>
              <a:t>MARKET OPPORTUNITY</a:t>
            </a:r>
            <a:endParaRPr lang="en-US" sz="1200" dirty="0"/>
          </a:p>
        </p:txBody>
      </p:sp>
      <p:sp>
        <p:nvSpPr>
          <p:cNvPr id="3" name="Text 1"/>
          <p:cNvSpPr/>
          <p:nvPr/>
        </p:nvSpPr>
        <p:spPr>
          <a:xfrm>
            <a:off x="548640" y="777240"/>
            <a:ext cx="7772400" cy="914400"/>
          </a:xfrm>
          <a:prstGeom prst="rect">
            <a:avLst/>
          </a:prstGeom>
          <a:noFill/>
          <a:ln/>
        </p:spPr>
        <p:txBody>
          <a:bodyPr wrap="square" lIns="0" tIns="0" rIns="0" bIns="0" rtlCol="0" anchor="ctr"/>
          <a:lstStyle/>
          <a:p>
            <a:pPr indent="0" marL="0">
              <a:buNone/>
            </a:pPr>
            <a:r>
              <a:rPr lang="en-US" sz="3200" b="1" dirty="0">
                <a:solidFill>
                  <a:srgbClr val="232823"/>
                </a:solidFill>
                <a:latin typeface="Georgia" pitchFamily="34" charset="0"/>
                <a:ea typeface="Georgia" pitchFamily="34" charset="-122"/>
                <a:cs typeface="Georgia" pitchFamily="34" charset="-120"/>
              </a:rPr>
              <a:t>A Massive Underserved Market</a:t>
            </a:r>
            <a:endParaRPr lang="en-US" sz="3200" dirty="0"/>
          </a:p>
          <a:p>
            <a:pPr indent="0" marL="0">
              <a:buNone/>
            </a:pPr>
            <a:r>
              <a:rPr lang="en-US" sz="3200" b="1" dirty="0">
                <a:solidFill>
                  <a:srgbClr val="232823"/>
                </a:solidFill>
                <a:latin typeface="Georgia" pitchFamily="34" charset="0"/>
                <a:ea typeface="Georgia" pitchFamily="34" charset="-122"/>
                <a:cs typeface="Georgia" pitchFamily="34" charset="-120"/>
              </a:rPr>
              <a:t>Right in Our Backyard</a:t>
            </a:r>
            <a:endParaRPr lang="en-US" sz="3200" dirty="0"/>
          </a:p>
        </p:txBody>
      </p:sp>
      <p:pic>
        <p:nvPicPr>
          <p:cNvPr id="4" name="Image 0" descr="preencoded.png">    </p:cNvPr>
          <p:cNvPicPr>
            <a:picLocks noChangeAspect="1"/>
          </p:cNvPicPr>
          <p:nvPr/>
        </p:nvPicPr>
        <p:blipFill>
          <a:blip r:embed="rId1"/>
          <a:stretch>
            <a:fillRect/>
          </a:stretch>
        </p:blipFill>
        <p:spPr>
          <a:xfrm>
            <a:off x="548640" y="1965960"/>
            <a:ext cx="365760" cy="365760"/>
          </a:xfrm>
          <a:prstGeom prst="rect">
            <a:avLst/>
          </a:prstGeom>
        </p:spPr>
      </p:pic>
      <p:sp>
        <p:nvSpPr>
          <p:cNvPr id="5" name="Text 2"/>
          <p:cNvSpPr/>
          <p:nvPr/>
        </p:nvSpPr>
        <p:spPr>
          <a:xfrm>
            <a:off x="1097280" y="1920240"/>
            <a:ext cx="2286000" cy="411480"/>
          </a:xfrm>
          <a:prstGeom prst="rect">
            <a:avLst/>
          </a:prstGeom>
          <a:noFill/>
          <a:ln/>
        </p:spPr>
        <p:txBody>
          <a:bodyPr wrap="square" lIns="0" tIns="0" rIns="0" bIns="0" rtlCol="0" anchor="ctr"/>
          <a:lstStyle/>
          <a:p>
            <a:pPr indent="0" marL="0">
              <a:buNone/>
            </a:pPr>
            <a:r>
              <a:rPr lang="en-US" sz="3000" b="1" dirty="0">
                <a:solidFill>
                  <a:srgbClr val="2A4A30"/>
                </a:solidFill>
                <a:latin typeface="Georgia" pitchFamily="34" charset="0"/>
                <a:ea typeface="Georgia" pitchFamily="34" charset="-122"/>
                <a:cs typeface="Georgia" pitchFamily="34" charset="-120"/>
              </a:rPr>
              <a:t>50,000+</a:t>
            </a:r>
            <a:endParaRPr lang="en-US" sz="3000" dirty="0"/>
          </a:p>
        </p:txBody>
      </p:sp>
      <p:sp>
        <p:nvSpPr>
          <p:cNvPr id="6" name="Text 3"/>
          <p:cNvSpPr/>
          <p:nvPr/>
        </p:nvSpPr>
        <p:spPr>
          <a:xfrm>
            <a:off x="1097280" y="2304288"/>
            <a:ext cx="3200400" cy="320040"/>
          </a:xfrm>
          <a:prstGeom prst="rect">
            <a:avLst/>
          </a:prstGeom>
          <a:noFill/>
          <a:ln/>
        </p:spPr>
        <p:txBody>
          <a:bodyPr wrap="square" lIns="0" tIns="0" rIns="0" bIns="0" rtlCol="0" anchor="ctr"/>
          <a:lstStyle/>
          <a:p>
            <a:pPr indent="0" marL="0">
              <a:buNone/>
            </a:pPr>
            <a:r>
              <a:rPr lang="en-US" sz="1200" dirty="0">
                <a:solidFill>
                  <a:srgbClr val="555555"/>
                </a:solidFill>
                <a:latin typeface="Calibri" pitchFamily="34" charset="0"/>
                <a:ea typeface="Calibri" pitchFamily="34" charset="-122"/>
                <a:cs typeface="Calibri" pitchFamily="34" charset="-120"/>
              </a:rPr>
              <a:t>small businesses in the Hudson Valley</a:t>
            </a:r>
            <a:endParaRPr lang="en-US" sz="1200" dirty="0"/>
          </a:p>
        </p:txBody>
      </p:sp>
      <p:pic>
        <p:nvPicPr>
          <p:cNvPr id="7" name="Image 1" descr="preencoded.png">    </p:cNvPr>
          <p:cNvPicPr>
            <a:picLocks noChangeAspect="1"/>
          </p:cNvPicPr>
          <p:nvPr/>
        </p:nvPicPr>
        <p:blipFill>
          <a:blip r:embed="rId2"/>
          <a:stretch>
            <a:fillRect/>
          </a:stretch>
        </p:blipFill>
        <p:spPr>
          <a:xfrm>
            <a:off x="548640" y="2971800"/>
            <a:ext cx="365760" cy="365760"/>
          </a:xfrm>
          <a:prstGeom prst="rect">
            <a:avLst/>
          </a:prstGeom>
        </p:spPr>
      </p:pic>
      <p:sp>
        <p:nvSpPr>
          <p:cNvPr id="8" name="Text 4"/>
          <p:cNvSpPr/>
          <p:nvPr/>
        </p:nvSpPr>
        <p:spPr>
          <a:xfrm>
            <a:off x="1097280" y="2926080"/>
            <a:ext cx="2286000" cy="411480"/>
          </a:xfrm>
          <a:prstGeom prst="rect">
            <a:avLst/>
          </a:prstGeom>
          <a:noFill/>
          <a:ln/>
        </p:spPr>
        <p:txBody>
          <a:bodyPr wrap="square" lIns="0" tIns="0" rIns="0" bIns="0" rtlCol="0" anchor="ctr"/>
          <a:lstStyle/>
          <a:p>
            <a:pPr indent="0" marL="0">
              <a:buNone/>
            </a:pPr>
            <a:r>
              <a:rPr lang="en-US" sz="3000" b="1" dirty="0">
                <a:solidFill>
                  <a:srgbClr val="2A4A30"/>
                </a:solidFill>
                <a:latin typeface="Georgia" pitchFamily="34" charset="0"/>
                <a:ea typeface="Georgia" pitchFamily="34" charset="-122"/>
                <a:cs typeface="Georgia" pitchFamily="34" charset="-120"/>
              </a:rPr>
              <a:t>72%</a:t>
            </a:r>
            <a:endParaRPr lang="en-US" sz="3000" dirty="0"/>
          </a:p>
        </p:txBody>
      </p:sp>
      <p:sp>
        <p:nvSpPr>
          <p:cNvPr id="9" name="Text 5"/>
          <p:cNvSpPr/>
          <p:nvPr/>
        </p:nvSpPr>
        <p:spPr>
          <a:xfrm>
            <a:off x="1097280" y="3310128"/>
            <a:ext cx="3200400" cy="320040"/>
          </a:xfrm>
          <a:prstGeom prst="rect">
            <a:avLst/>
          </a:prstGeom>
          <a:noFill/>
          <a:ln/>
        </p:spPr>
        <p:txBody>
          <a:bodyPr wrap="square" lIns="0" tIns="0" rIns="0" bIns="0" rtlCol="0" anchor="ctr"/>
          <a:lstStyle/>
          <a:p>
            <a:pPr indent="0" marL="0">
              <a:buNone/>
            </a:pPr>
            <a:r>
              <a:rPr lang="en-US" sz="1200" dirty="0">
                <a:solidFill>
                  <a:srgbClr val="555555"/>
                </a:solidFill>
                <a:latin typeface="Calibri" pitchFamily="34" charset="0"/>
                <a:ea typeface="Calibri" pitchFamily="34" charset="-122"/>
                <a:cs typeface="Calibri" pitchFamily="34" charset="-120"/>
              </a:rPr>
              <a:t>have outdated or no website</a:t>
            </a:r>
            <a:endParaRPr lang="en-US" sz="1200" dirty="0"/>
          </a:p>
        </p:txBody>
      </p:sp>
      <p:pic>
        <p:nvPicPr>
          <p:cNvPr id="10" name="Image 2" descr="preencoded.png">    </p:cNvPr>
          <p:cNvPicPr>
            <a:picLocks noChangeAspect="1"/>
          </p:cNvPicPr>
          <p:nvPr/>
        </p:nvPicPr>
        <p:blipFill>
          <a:blip r:embed="rId3"/>
          <a:stretch>
            <a:fillRect/>
          </a:stretch>
        </p:blipFill>
        <p:spPr>
          <a:xfrm>
            <a:off x="548640" y="3977640"/>
            <a:ext cx="365760" cy="365760"/>
          </a:xfrm>
          <a:prstGeom prst="rect">
            <a:avLst/>
          </a:prstGeom>
        </p:spPr>
      </p:pic>
      <p:sp>
        <p:nvSpPr>
          <p:cNvPr id="11" name="Text 6"/>
          <p:cNvSpPr/>
          <p:nvPr/>
        </p:nvSpPr>
        <p:spPr>
          <a:xfrm>
            <a:off x="1097280" y="3931920"/>
            <a:ext cx="2286000" cy="411480"/>
          </a:xfrm>
          <a:prstGeom prst="rect">
            <a:avLst/>
          </a:prstGeom>
          <a:noFill/>
          <a:ln/>
        </p:spPr>
        <p:txBody>
          <a:bodyPr wrap="square" lIns="0" tIns="0" rIns="0" bIns="0" rtlCol="0" anchor="ctr"/>
          <a:lstStyle/>
          <a:p>
            <a:pPr indent="0" marL="0">
              <a:buNone/>
            </a:pPr>
            <a:r>
              <a:rPr lang="en-US" sz="3000" b="1" dirty="0">
                <a:solidFill>
                  <a:srgbClr val="2A4A30"/>
                </a:solidFill>
                <a:latin typeface="Georgia" pitchFamily="34" charset="0"/>
                <a:ea typeface="Georgia" pitchFamily="34" charset="-122"/>
                <a:cs typeface="Georgia" pitchFamily="34" charset="-120"/>
              </a:rPr>
              <a:t>$2.5M+</a:t>
            </a:r>
            <a:endParaRPr lang="en-US" sz="3000" dirty="0"/>
          </a:p>
        </p:txBody>
      </p:sp>
      <p:sp>
        <p:nvSpPr>
          <p:cNvPr id="12" name="Text 7"/>
          <p:cNvSpPr/>
          <p:nvPr/>
        </p:nvSpPr>
        <p:spPr>
          <a:xfrm>
            <a:off x="1097280" y="4315968"/>
            <a:ext cx="3200400" cy="320040"/>
          </a:xfrm>
          <a:prstGeom prst="rect">
            <a:avLst/>
          </a:prstGeom>
          <a:noFill/>
          <a:ln/>
        </p:spPr>
        <p:txBody>
          <a:bodyPr wrap="square" lIns="0" tIns="0" rIns="0" bIns="0" rtlCol="0" anchor="ctr"/>
          <a:lstStyle/>
          <a:p>
            <a:pPr indent="0" marL="0">
              <a:buNone/>
            </a:pPr>
            <a:r>
              <a:rPr lang="en-US" sz="1200" dirty="0">
                <a:solidFill>
                  <a:srgbClr val="555555"/>
                </a:solidFill>
                <a:latin typeface="Calibri" pitchFamily="34" charset="0"/>
                <a:ea typeface="Calibri" pitchFamily="34" charset="-122"/>
                <a:cs typeface="Calibri" pitchFamily="34" charset="-120"/>
              </a:rPr>
              <a:t>addressable market in Year 1</a:t>
            </a:r>
            <a:endParaRPr lang="en-US" sz="1200" dirty="0"/>
          </a:p>
        </p:txBody>
      </p:sp>
      <p:sp>
        <p:nvSpPr>
          <p:cNvPr id="13" name="Shape 8"/>
          <p:cNvSpPr/>
          <p:nvPr/>
        </p:nvSpPr>
        <p:spPr>
          <a:xfrm>
            <a:off x="5029200" y="1920240"/>
            <a:ext cx="3657600" cy="2834640"/>
          </a:xfrm>
          <a:prstGeom prst="rect">
            <a:avLst/>
          </a:prstGeom>
          <a:solidFill>
            <a:srgbClr val="F7F2E8"/>
          </a:solidFill>
          <a:ln/>
          <a:effectLst>
            <a:outerShdw sx="100000" sy="100000" kx="0" ky="0" algn="bl" rotWithShape="0" blurRad="50800" dist="25400" dir="8100000">
              <a:srgbClr val="000000">
                <a:alpha val="10000"/>
              </a:srgbClr>
            </a:outerShdw>
          </a:effectLst>
        </p:spPr>
      </p:sp>
      <p:sp>
        <p:nvSpPr>
          <p:cNvPr id="14" name="Text 9"/>
          <p:cNvSpPr/>
          <p:nvPr/>
        </p:nvSpPr>
        <p:spPr>
          <a:xfrm>
            <a:off x="5303520" y="2103120"/>
            <a:ext cx="3108960" cy="365760"/>
          </a:xfrm>
          <a:prstGeom prst="rect">
            <a:avLst/>
          </a:prstGeom>
          <a:noFill/>
          <a:ln/>
        </p:spPr>
        <p:txBody>
          <a:bodyPr wrap="square" lIns="0" tIns="0" rIns="0" bIns="0" rtlCol="0" anchor="ctr"/>
          <a:lstStyle/>
          <a:p>
            <a:pPr indent="0" marL="0">
              <a:buNone/>
            </a:pPr>
            <a:r>
              <a:rPr lang="en-US" sz="1600" b="1" dirty="0">
                <a:solidFill>
                  <a:srgbClr val="2A4A30"/>
                </a:solidFill>
                <a:latin typeface="Georgia" pitchFamily="34" charset="0"/>
                <a:ea typeface="Georgia" pitchFamily="34" charset="-122"/>
                <a:cs typeface="Georgia" pitchFamily="34" charset="-120"/>
              </a:rPr>
              <a:t>Target Segments</a:t>
            </a:r>
            <a:endParaRPr lang="en-US" sz="1600" dirty="0"/>
          </a:p>
        </p:txBody>
      </p:sp>
      <p:sp>
        <p:nvSpPr>
          <p:cNvPr id="15" name="Text 10"/>
          <p:cNvSpPr/>
          <p:nvPr/>
        </p:nvSpPr>
        <p:spPr>
          <a:xfrm>
            <a:off x="5303520" y="2514600"/>
            <a:ext cx="3108960" cy="2103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444444"/>
                </a:solidFill>
                <a:latin typeface="Calibri" pitchFamily="34" charset="0"/>
                <a:ea typeface="Calibri" pitchFamily="34" charset="-122"/>
                <a:cs typeface="Calibri" pitchFamily="34" charset="-120"/>
              </a:rPr>
              <a:t>Restaurants &amp; Cafes</a:t>
            </a:r>
            <a:endParaRPr lang="en-US" sz="1200" dirty="0"/>
          </a:p>
          <a:p>
            <a:pPr marL="342900" indent="-342900">
              <a:spcAft>
                <a:spcPts val="300"/>
              </a:spcAft>
              <a:buSzPct val="100000"/>
              <a:buChar char="•"/>
            </a:pPr>
            <a:r>
              <a:rPr lang="en-US" sz="1200" dirty="0">
                <a:solidFill>
                  <a:srgbClr val="444444"/>
                </a:solidFill>
                <a:latin typeface="Calibri" pitchFamily="34" charset="0"/>
                <a:ea typeface="Calibri" pitchFamily="34" charset="-122"/>
                <a:cs typeface="Calibri" pitchFamily="34" charset="-120"/>
              </a:rPr>
              <a:t>Home Services (HVAC, plumbing, etc.)</a:t>
            </a:r>
            <a:endParaRPr lang="en-US" sz="1200" dirty="0"/>
          </a:p>
          <a:p>
            <a:pPr marL="342900" indent="-342900">
              <a:spcAft>
                <a:spcPts val="300"/>
              </a:spcAft>
              <a:buSzPct val="100000"/>
              <a:buChar char="•"/>
            </a:pPr>
            <a:r>
              <a:rPr lang="en-US" sz="1200" dirty="0">
                <a:solidFill>
                  <a:srgbClr val="444444"/>
                </a:solidFill>
                <a:latin typeface="Calibri" pitchFamily="34" charset="0"/>
                <a:ea typeface="Calibri" pitchFamily="34" charset="-122"/>
                <a:cs typeface="Calibri" pitchFamily="34" charset="-120"/>
              </a:rPr>
              <a:t>Health &amp; Wellness practitioners</a:t>
            </a:r>
            <a:endParaRPr lang="en-US" sz="1200" dirty="0"/>
          </a:p>
          <a:p>
            <a:pPr marL="342900" indent="-342900">
              <a:spcAft>
                <a:spcPts val="300"/>
              </a:spcAft>
              <a:buSzPct val="100000"/>
              <a:buChar char="•"/>
            </a:pPr>
            <a:r>
              <a:rPr lang="en-US" sz="1200" dirty="0">
                <a:solidFill>
                  <a:srgbClr val="444444"/>
                </a:solidFill>
                <a:latin typeface="Calibri" pitchFamily="34" charset="0"/>
                <a:ea typeface="Calibri" pitchFamily="34" charset="-122"/>
                <a:cs typeface="Calibri" pitchFamily="34" charset="-120"/>
              </a:rPr>
              <a:t>Real Estate agents</a:t>
            </a:r>
            <a:endParaRPr lang="en-US" sz="1200" dirty="0"/>
          </a:p>
          <a:p>
            <a:pPr marL="342900" indent="-342900">
              <a:spcAft>
                <a:spcPts val="300"/>
              </a:spcAft>
              <a:buSzPct val="100000"/>
              <a:buChar char="•"/>
            </a:pPr>
            <a:r>
              <a:rPr lang="en-US" sz="1200" dirty="0">
                <a:solidFill>
                  <a:srgbClr val="444444"/>
                </a:solidFill>
                <a:latin typeface="Calibri" pitchFamily="34" charset="0"/>
                <a:ea typeface="Calibri" pitchFamily="34" charset="-122"/>
                <a:cs typeface="Calibri" pitchFamily="34" charset="-120"/>
              </a:rPr>
              <a:t>Retail shops &amp; Boutiques</a:t>
            </a:r>
            <a:endParaRPr lang="en-US" sz="1200" dirty="0"/>
          </a:p>
          <a:p>
            <a:pPr marL="342900" indent="-342900">
              <a:spcAft>
                <a:spcPts val="300"/>
              </a:spcAft>
              <a:buSzPct val="100000"/>
              <a:buChar char="•"/>
            </a:pPr>
            <a:r>
              <a:rPr lang="en-US" sz="1200" dirty="0">
                <a:solidFill>
                  <a:srgbClr val="444444"/>
                </a:solidFill>
                <a:latin typeface="Calibri" pitchFamily="34" charset="0"/>
                <a:ea typeface="Calibri" pitchFamily="34" charset="-122"/>
                <a:cs typeface="Calibri" pitchFamily="34" charset="-120"/>
              </a:rPr>
              <a:t>Professional Services (law, accounting)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48640" y="365760"/>
            <a:ext cx="4572000" cy="457200"/>
          </a:xfrm>
          <a:prstGeom prst="rect">
            <a:avLst/>
          </a:prstGeom>
          <a:noFill/>
          <a:ln/>
        </p:spPr>
        <p:txBody>
          <a:bodyPr wrap="square" lIns="0" tIns="0" rIns="0" bIns="0" rtlCol="0" anchor="ctr"/>
          <a:lstStyle/>
          <a:p>
            <a:pPr indent="0" marL="0">
              <a:buNone/>
            </a:pPr>
            <a:r>
              <a:rPr lang="en-US" sz="1200" b="1" spc="300" kern="0" dirty="0">
                <a:solidFill>
                  <a:srgbClr val="C4892A"/>
                </a:solidFill>
                <a:latin typeface="Calibri" pitchFamily="34" charset="0"/>
                <a:ea typeface="Calibri" pitchFamily="34" charset="-122"/>
                <a:cs typeface="Calibri" pitchFamily="34" charset="-120"/>
              </a:rPr>
              <a:t>COMPETITIVE LANDSCAPE</a:t>
            </a:r>
            <a:endParaRPr lang="en-US" sz="1200" dirty="0"/>
          </a:p>
        </p:txBody>
      </p:sp>
      <p:sp>
        <p:nvSpPr>
          <p:cNvPr id="3" name="Text 1"/>
          <p:cNvSpPr/>
          <p:nvPr/>
        </p:nvSpPr>
        <p:spPr>
          <a:xfrm>
            <a:off x="548640" y="777240"/>
            <a:ext cx="7772400" cy="548640"/>
          </a:xfrm>
          <a:prstGeom prst="rect">
            <a:avLst/>
          </a:prstGeom>
          <a:noFill/>
          <a:ln/>
        </p:spPr>
        <p:txBody>
          <a:bodyPr wrap="square" lIns="0" tIns="0" rIns="0" bIns="0" rtlCol="0" anchor="ctr"/>
          <a:lstStyle/>
          <a:p>
            <a:pPr indent="0" marL="0">
              <a:buNone/>
            </a:pPr>
            <a:r>
              <a:rPr lang="en-US" sz="3200" b="1" dirty="0">
                <a:solidFill>
                  <a:srgbClr val="232823"/>
                </a:solidFill>
                <a:latin typeface="Georgia" pitchFamily="34" charset="0"/>
                <a:ea typeface="Georgia" pitchFamily="34" charset="-122"/>
                <a:cs typeface="Georgia" pitchFamily="34" charset="-120"/>
              </a:rPr>
              <a:t>AI-First at SMB-Friendly Prices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645920"/>
                <a:gridCol w="1645920"/>
                <a:gridCol w="1645920"/>
                <a:gridCol w="1645920"/>
                <a:gridCol w="1645920"/>
              </a:tblGrid>
              <a:tr h="347472">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4A30"/>
                    </a:solidFill>
                  </a:tcPr>
                </a:tc>
                <a:tc>
                  <a:txBody>
                    <a:bodyPr/>
                    <a:lstStyle/>
                    <a:p>
                      <a:pPr indent="0" marL="0">
                        <a:buNone/>
                      </a:pPr>
                      <a:r>
                        <a:rPr lang="en-US" sz="1100" b="1" dirty="0">
                          <a:solidFill>
                            <a:srgbClr val="C4892A"/>
                          </a:solidFill>
                          <a:latin typeface="Calibri" pitchFamily="34" charset="0"/>
                          <a:ea typeface="Calibri" pitchFamily="34" charset="-122"/>
                          <a:cs typeface="Calibri" pitchFamily="34" charset="-120"/>
                        </a:rPr>
                        <a:t>Alder &amp; Ash</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4A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Freelancers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4A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Big Agencies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4A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DIY (Wix/Squarespace)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4A30"/>
                    </a:solidFill>
                  </a:tcPr>
                </a:tc>
              </a:tr>
              <a:tr h="320040">
                <a:tc>
                  <a:txBody>
                    <a:bodyPr/>
                    <a:lstStyle/>
                    <a:p>
                      <a:pPr algn="l" indent="0" marL="0">
                        <a:buNone/>
                      </a:pPr>
                      <a:r>
                        <a:rPr lang="en-US" sz="1000" b="1" dirty="0">
                          <a:solidFill>
                            <a:srgbClr val="232823"/>
                          </a:solidFill>
                          <a:latin typeface="Calibri" pitchFamily="34" charset="0"/>
                          <a:ea typeface="Calibri" pitchFamily="34" charset="-122"/>
                          <a:cs typeface="Calibri" pitchFamily="34" charset="-120"/>
                        </a:rPr>
                        <a:t>Custom Design</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Varies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No (Templates)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r>
              <a:tr h="320040">
                <a:tc>
                  <a:txBody>
                    <a:bodyPr/>
                    <a:lstStyle/>
                    <a:p>
                      <a:pPr algn="l" indent="0" marL="0">
                        <a:buNone/>
                      </a:pPr>
                      <a:r>
                        <a:rPr lang="en-US" sz="1000" b="1" dirty="0">
                          <a:solidFill>
                            <a:srgbClr val="232823"/>
                          </a:solidFill>
                          <a:latin typeface="Calibri" pitchFamily="34" charset="0"/>
                          <a:ea typeface="Calibri" pitchFamily="34" charset="-122"/>
                          <a:cs typeface="Calibri" pitchFamily="34" charset="-120"/>
                        </a:rPr>
                        <a:t>AI Chatbots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Included</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Add-on ($$$)</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algn="l" indent="0" marL="0">
                        <a:buNone/>
                      </a:pPr>
                      <a:r>
                        <a:rPr lang="en-US" sz="1000" b="1" dirty="0">
                          <a:solidFill>
                            <a:srgbClr val="232823"/>
                          </a:solidFill>
                          <a:latin typeface="Calibri" pitchFamily="34" charset="0"/>
                          <a:ea typeface="Calibri" pitchFamily="34" charset="-122"/>
                          <a:cs typeface="Calibri" pitchFamily="34" charset="-120"/>
                        </a:rPr>
                        <a:t>Lead Automation</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Included</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Add-on ($$$)</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r>
              <a:tr h="320040">
                <a:tc>
                  <a:txBody>
                    <a:bodyPr/>
                    <a:lstStyle/>
                    <a:p>
                      <a:pPr algn="l" indent="0" marL="0">
                        <a:buNone/>
                      </a:pPr>
                      <a:r>
                        <a:rPr lang="en-US" sz="1000" b="1" dirty="0">
                          <a:solidFill>
                            <a:srgbClr val="232823"/>
                          </a:solidFill>
                          <a:latin typeface="Calibri" pitchFamily="34" charset="0"/>
                          <a:ea typeface="Calibri" pitchFamily="34" charset="-122"/>
                          <a:cs typeface="Calibri" pitchFamily="34" charset="-120"/>
                        </a:rPr>
                        <a:t>Local SEO</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Included</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Sometimes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Extra Cost</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Basic</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algn="l" indent="0" marL="0">
                        <a:buNone/>
                      </a:pPr>
                      <a:r>
                        <a:rPr lang="en-US" sz="1000" b="1" dirty="0">
                          <a:solidFill>
                            <a:srgbClr val="232823"/>
                          </a:solidFill>
                          <a:latin typeface="Calibri" pitchFamily="34" charset="0"/>
                          <a:ea typeface="Calibri" pitchFamily="34" charset="-122"/>
                          <a:cs typeface="Calibri" pitchFamily="34" charset="-120"/>
                        </a:rPr>
                        <a:t>Price Range</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$2.5K–$7.5K</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$1K–$5K</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$10K–$50K+</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$150–$500/yr</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r>
              <a:tr h="320040">
                <a:tc>
                  <a:txBody>
                    <a:bodyPr/>
                    <a:lstStyle/>
                    <a:p>
                      <a:pPr algn="l" indent="0" marL="0">
                        <a:buNone/>
                      </a:pPr>
                      <a:r>
                        <a:rPr lang="en-US" sz="1000" b="1" dirty="0">
                          <a:solidFill>
                            <a:srgbClr val="232823"/>
                          </a:solidFill>
                          <a:latin typeface="Calibri" pitchFamily="34" charset="0"/>
                          <a:ea typeface="Calibri" pitchFamily="34" charset="-122"/>
                          <a:cs typeface="Calibri" pitchFamily="34" charset="-120"/>
                        </a:rPr>
                        <a:t>Timeline</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2–4 weeks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4–8 weeks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8–16 weeks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DIY</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algn="l" indent="0" marL="0">
                        <a:buNone/>
                      </a:pPr>
                      <a:r>
                        <a:rPr lang="en-US" sz="1000" b="1" dirty="0">
                          <a:solidFill>
                            <a:srgbClr val="232823"/>
                          </a:solidFill>
                          <a:latin typeface="Calibri" pitchFamily="34" charset="0"/>
                          <a:ea typeface="Calibri" pitchFamily="34" charset="-122"/>
                          <a:cs typeface="Calibri" pitchFamily="34" charset="-120"/>
                        </a:rPr>
                        <a:t>Local Focus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Hudson Valley</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Varies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DE4"/>
                    </a:solidFill>
                  </a:tcPr>
                </a:tc>
              </a:tr>
            </a:tbl>
          </a:graphicData>
        </a:graphic>
      </p:graphicFrame>
      <p:sp>
        <p:nvSpPr>
          <p:cNvPr id="5" name="Text 2"/>
          <p:cNvSpPr/>
          <p:nvPr/>
        </p:nvSpPr>
        <p:spPr>
          <a:xfrm>
            <a:off x="548640" y="4434840"/>
            <a:ext cx="8046720" cy="365760"/>
          </a:xfrm>
          <a:prstGeom prst="rect">
            <a:avLst/>
          </a:prstGeom>
          <a:noFill/>
          <a:ln/>
        </p:spPr>
        <p:txBody>
          <a:bodyPr wrap="square" lIns="0" tIns="0" rIns="0" bIns="0" rtlCol="0" anchor="ctr"/>
          <a:lstStyle/>
          <a:p>
            <a:pPr indent="0" marL="0">
              <a:buNone/>
            </a:pPr>
            <a:r>
              <a:rPr lang="en-US" sz="1300" b="1" i="1" dirty="0">
                <a:solidFill>
                  <a:srgbClr val="2A4A30"/>
                </a:solidFill>
                <a:latin typeface="Calibri" pitchFamily="34" charset="0"/>
                <a:ea typeface="Calibri" pitchFamily="34" charset="-122"/>
                <a:cs typeface="Calibri" pitchFamily="34" charset="-120"/>
              </a:rPr>
              <a:t>We combine agency-quality work with AI-first innovation at prices local businesses can afford.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4572000" cy="457200"/>
          </a:xfrm>
          <a:prstGeom prst="rect">
            <a:avLst/>
          </a:prstGeom>
          <a:noFill/>
          <a:ln/>
        </p:spPr>
        <p:txBody>
          <a:bodyPr wrap="square" lIns="0" tIns="0" rIns="0" bIns="0" rtlCol="0" anchor="ctr"/>
          <a:lstStyle/>
          <a:p>
            <a:pPr indent="0" marL="0">
              <a:buNone/>
            </a:pPr>
            <a:r>
              <a:rPr lang="en-US" sz="1200" b="1" spc="300" kern="0" dirty="0">
                <a:solidFill>
                  <a:srgbClr val="C4892A"/>
                </a:solidFill>
                <a:latin typeface="Calibri" pitchFamily="34" charset="0"/>
                <a:ea typeface="Calibri" pitchFamily="34" charset="-122"/>
                <a:cs typeface="Calibri" pitchFamily="34" charset="-120"/>
              </a:rPr>
              <a:t>TRACTION &amp; ROADMAP</a:t>
            </a:r>
            <a:endParaRPr lang="en-US" sz="1200" dirty="0"/>
          </a:p>
        </p:txBody>
      </p:sp>
      <p:sp>
        <p:nvSpPr>
          <p:cNvPr id="3" name="Text 1"/>
          <p:cNvSpPr/>
          <p:nvPr/>
        </p:nvSpPr>
        <p:spPr>
          <a:xfrm>
            <a:off x="548640" y="777240"/>
            <a:ext cx="7772400" cy="548640"/>
          </a:xfrm>
          <a:prstGeom prst="rect">
            <a:avLst/>
          </a:prstGeom>
          <a:noFill/>
          <a:ln/>
        </p:spPr>
        <p:txBody>
          <a:bodyPr wrap="square" lIns="0" tIns="0" rIns="0" bIns="0" rtlCol="0" anchor="ctr"/>
          <a:lstStyle/>
          <a:p>
            <a:pPr indent="0" marL="0">
              <a:buNone/>
            </a:pPr>
            <a:r>
              <a:rPr lang="en-US" sz="3200" b="1" dirty="0">
                <a:solidFill>
                  <a:srgbClr val="232823"/>
                </a:solidFill>
                <a:latin typeface="Georgia" pitchFamily="34" charset="0"/>
                <a:ea typeface="Georgia" pitchFamily="34" charset="-122"/>
                <a:cs typeface="Georgia" pitchFamily="34" charset="-120"/>
              </a:rPr>
              <a:t>Building Momentum</a:t>
            </a:r>
            <a:endParaRPr lang="en-US" sz="3200" dirty="0"/>
          </a:p>
        </p:txBody>
      </p:sp>
      <p:sp>
        <p:nvSpPr>
          <p:cNvPr id="4" name="Shape 2"/>
          <p:cNvSpPr/>
          <p:nvPr/>
        </p:nvSpPr>
        <p:spPr>
          <a:xfrm>
            <a:off x="457200" y="1508760"/>
            <a:ext cx="2606040" cy="3291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457200" y="1508760"/>
            <a:ext cx="2606040" cy="502920"/>
          </a:xfrm>
          <a:prstGeom prst="rect">
            <a:avLst/>
          </a:prstGeom>
          <a:solidFill>
            <a:srgbClr val="2A4A30"/>
          </a:solidFill>
          <a:ln/>
        </p:spPr>
      </p:sp>
      <p:sp>
        <p:nvSpPr>
          <p:cNvPr id="6" name="Text 4"/>
          <p:cNvSpPr/>
          <p:nvPr/>
        </p:nvSpPr>
        <p:spPr>
          <a:xfrm>
            <a:off x="640080" y="1572768"/>
            <a:ext cx="1371600" cy="182880"/>
          </a:xfrm>
          <a:prstGeom prst="rect">
            <a:avLst/>
          </a:prstGeom>
          <a:noFill/>
          <a:ln/>
        </p:spPr>
        <p:txBody>
          <a:bodyPr wrap="square" lIns="0" tIns="0" rIns="0" bIns="0"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PHASE 1</a:t>
            </a:r>
            <a:endParaRPr lang="en-US" sz="900" dirty="0"/>
          </a:p>
        </p:txBody>
      </p:sp>
      <p:sp>
        <p:nvSpPr>
          <p:cNvPr id="7" name="Text 5"/>
          <p:cNvSpPr/>
          <p:nvPr/>
        </p:nvSpPr>
        <p:spPr>
          <a:xfrm>
            <a:off x="640080" y="1755648"/>
            <a:ext cx="2194560" cy="182880"/>
          </a:xfrm>
          <a:prstGeom prst="rect">
            <a:avLst/>
          </a:prstGeom>
          <a:noFill/>
          <a:ln/>
        </p:spPr>
        <p:txBody>
          <a:bodyPr wrap="square" lIns="0" tIns="0" rIns="0" bIns="0" rtlCol="0" anchor="ctr"/>
          <a:lstStyle/>
          <a:p>
            <a:pPr indent="0" marL="0">
              <a:buNone/>
            </a:pPr>
            <a:r>
              <a:rPr lang="en-US" sz="1000" dirty="0">
                <a:solidFill>
                  <a:srgbClr val="F7F2E8"/>
                </a:solidFill>
                <a:latin typeface="Calibri" pitchFamily="34" charset="0"/>
                <a:ea typeface="Calibri" pitchFamily="34" charset="-122"/>
                <a:cs typeface="Calibri" pitchFamily="34" charset="-120"/>
              </a:rPr>
              <a:t>Q2 2026</a:t>
            </a:r>
            <a:endParaRPr lang="en-US" sz="1000" dirty="0"/>
          </a:p>
        </p:txBody>
      </p:sp>
      <p:sp>
        <p:nvSpPr>
          <p:cNvPr id="8" name="Text 6"/>
          <p:cNvSpPr/>
          <p:nvPr/>
        </p:nvSpPr>
        <p:spPr>
          <a:xfrm>
            <a:off x="640080" y="2148840"/>
            <a:ext cx="2194560" cy="365760"/>
          </a:xfrm>
          <a:prstGeom prst="rect">
            <a:avLst/>
          </a:prstGeom>
          <a:noFill/>
          <a:ln/>
        </p:spPr>
        <p:txBody>
          <a:bodyPr wrap="square" lIns="0" tIns="0" rIns="0" bIns="0" rtlCol="0" anchor="ctr"/>
          <a:lstStyle/>
          <a:p>
            <a:pPr indent="0" marL="0">
              <a:buNone/>
            </a:pPr>
            <a:r>
              <a:rPr lang="en-US" sz="1800" b="1" dirty="0">
                <a:solidFill>
                  <a:srgbClr val="232823"/>
                </a:solidFill>
                <a:latin typeface="Georgia" pitchFamily="34" charset="0"/>
                <a:ea typeface="Georgia" pitchFamily="34" charset="-122"/>
                <a:cs typeface="Georgia" pitchFamily="34" charset="-120"/>
              </a:rPr>
              <a:t>Foundation</a:t>
            </a:r>
            <a:endParaRPr lang="en-US" sz="1800" dirty="0"/>
          </a:p>
        </p:txBody>
      </p:sp>
      <p:sp>
        <p:nvSpPr>
          <p:cNvPr id="9" name="Text 7"/>
          <p:cNvSpPr/>
          <p:nvPr/>
        </p:nvSpPr>
        <p:spPr>
          <a:xfrm>
            <a:off x="640080" y="2560320"/>
            <a:ext cx="2240280" cy="20116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Launch brand &amp; website</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First 10 clients</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Build case studies</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Refine AI workflows</a:t>
            </a:r>
            <a:endParaRPr lang="en-US" sz="1100" dirty="0"/>
          </a:p>
        </p:txBody>
      </p:sp>
      <p:sp>
        <p:nvSpPr>
          <p:cNvPr id="10" name="Shape 8"/>
          <p:cNvSpPr/>
          <p:nvPr/>
        </p:nvSpPr>
        <p:spPr>
          <a:xfrm>
            <a:off x="3291840" y="1508760"/>
            <a:ext cx="2606040" cy="3291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3291840" y="1508760"/>
            <a:ext cx="2606040" cy="502920"/>
          </a:xfrm>
          <a:prstGeom prst="rect">
            <a:avLst/>
          </a:prstGeom>
          <a:solidFill>
            <a:srgbClr val="3A6A42"/>
          </a:solidFill>
          <a:ln/>
        </p:spPr>
      </p:sp>
      <p:sp>
        <p:nvSpPr>
          <p:cNvPr id="12" name="Text 10"/>
          <p:cNvSpPr/>
          <p:nvPr/>
        </p:nvSpPr>
        <p:spPr>
          <a:xfrm>
            <a:off x="3474720" y="1572768"/>
            <a:ext cx="1371600" cy="182880"/>
          </a:xfrm>
          <a:prstGeom prst="rect">
            <a:avLst/>
          </a:prstGeom>
          <a:noFill/>
          <a:ln/>
        </p:spPr>
        <p:txBody>
          <a:bodyPr wrap="square" lIns="0" tIns="0" rIns="0" bIns="0"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PHASE 2</a:t>
            </a:r>
            <a:endParaRPr lang="en-US" sz="900" dirty="0"/>
          </a:p>
        </p:txBody>
      </p:sp>
      <p:sp>
        <p:nvSpPr>
          <p:cNvPr id="13" name="Text 11"/>
          <p:cNvSpPr/>
          <p:nvPr/>
        </p:nvSpPr>
        <p:spPr>
          <a:xfrm>
            <a:off x="3474720" y="1755648"/>
            <a:ext cx="2194560" cy="182880"/>
          </a:xfrm>
          <a:prstGeom prst="rect">
            <a:avLst/>
          </a:prstGeom>
          <a:noFill/>
          <a:ln/>
        </p:spPr>
        <p:txBody>
          <a:bodyPr wrap="square" lIns="0" tIns="0" rIns="0" bIns="0" rtlCol="0" anchor="ctr"/>
          <a:lstStyle/>
          <a:p>
            <a:pPr indent="0" marL="0">
              <a:buNone/>
            </a:pPr>
            <a:r>
              <a:rPr lang="en-US" sz="1000" dirty="0">
                <a:solidFill>
                  <a:srgbClr val="F7F2E8"/>
                </a:solidFill>
                <a:latin typeface="Calibri" pitchFamily="34" charset="0"/>
                <a:ea typeface="Calibri" pitchFamily="34" charset="-122"/>
                <a:cs typeface="Calibri" pitchFamily="34" charset="-120"/>
              </a:rPr>
              <a:t>Q3–Q4 2026</a:t>
            </a:r>
            <a:endParaRPr lang="en-US" sz="1000" dirty="0"/>
          </a:p>
        </p:txBody>
      </p:sp>
      <p:sp>
        <p:nvSpPr>
          <p:cNvPr id="14" name="Text 12"/>
          <p:cNvSpPr/>
          <p:nvPr/>
        </p:nvSpPr>
        <p:spPr>
          <a:xfrm>
            <a:off x="3474720" y="2148840"/>
            <a:ext cx="2194560" cy="365760"/>
          </a:xfrm>
          <a:prstGeom prst="rect">
            <a:avLst/>
          </a:prstGeom>
          <a:noFill/>
          <a:ln/>
        </p:spPr>
        <p:txBody>
          <a:bodyPr wrap="square" lIns="0" tIns="0" rIns="0" bIns="0" rtlCol="0" anchor="ctr"/>
          <a:lstStyle/>
          <a:p>
            <a:pPr indent="0" marL="0">
              <a:buNone/>
            </a:pPr>
            <a:r>
              <a:rPr lang="en-US" sz="1800" b="1" dirty="0">
                <a:solidFill>
                  <a:srgbClr val="232823"/>
                </a:solidFill>
                <a:latin typeface="Georgia" pitchFamily="34" charset="0"/>
                <a:ea typeface="Georgia" pitchFamily="34" charset="-122"/>
                <a:cs typeface="Georgia" pitchFamily="34" charset="-120"/>
              </a:rPr>
              <a:t>Scale</a:t>
            </a:r>
            <a:endParaRPr lang="en-US" sz="1800" dirty="0"/>
          </a:p>
        </p:txBody>
      </p:sp>
      <p:sp>
        <p:nvSpPr>
          <p:cNvPr id="15" name="Text 13"/>
          <p:cNvSpPr/>
          <p:nvPr/>
        </p:nvSpPr>
        <p:spPr>
          <a:xfrm>
            <a:off x="3474720" y="2560320"/>
            <a:ext cx="2240280" cy="20116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Scale to 30 clients</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Hire part-time designer</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Launch referral program</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Community partnerships</a:t>
            </a:r>
            <a:endParaRPr lang="en-US" sz="1100" dirty="0"/>
          </a:p>
        </p:txBody>
      </p:sp>
      <p:sp>
        <p:nvSpPr>
          <p:cNvPr id="16" name="Shape 14"/>
          <p:cNvSpPr/>
          <p:nvPr/>
        </p:nvSpPr>
        <p:spPr>
          <a:xfrm>
            <a:off x="6126480" y="1508760"/>
            <a:ext cx="2606040" cy="3291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6126480" y="1508760"/>
            <a:ext cx="2606040" cy="502920"/>
          </a:xfrm>
          <a:prstGeom prst="rect">
            <a:avLst/>
          </a:prstGeom>
          <a:solidFill>
            <a:srgbClr val="C4892A"/>
          </a:solidFill>
          <a:ln/>
        </p:spPr>
      </p:sp>
      <p:sp>
        <p:nvSpPr>
          <p:cNvPr id="18" name="Text 16"/>
          <p:cNvSpPr/>
          <p:nvPr/>
        </p:nvSpPr>
        <p:spPr>
          <a:xfrm>
            <a:off x="6309360" y="1572768"/>
            <a:ext cx="1371600" cy="182880"/>
          </a:xfrm>
          <a:prstGeom prst="rect">
            <a:avLst/>
          </a:prstGeom>
          <a:noFill/>
          <a:ln/>
        </p:spPr>
        <p:txBody>
          <a:bodyPr wrap="square" lIns="0" tIns="0" rIns="0" bIns="0"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PHASE 3</a:t>
            </a:r>
            <a:endParaRPr lang="en-US" sz="900" dirty="0"/>
          </a:p>
        </p:txBody>
      </p:sp>
      <p:sp>
        <p:nvSpPr>
          <p:cNvPr id="19" name="Text 17"/>
          <p:cNvSpPr/>
          <p:nvPr/>
        </p:nvSpPr>
        <p:spPr>
          <a:xfrm>
            <a:off x="6309360" y="1755648"/>
            <a:ext cx="2194560" cy="182880"/>
          </a:xfrm>
          <a:prstGeom prst="rect">
            <a:avLst/>
          </a:prstGeom>
          <a:noFill/>
          <a:ln/>
        </p:spPr>
        <p:txBody>
          <a:bodyPr wrap="square" lIns="0" tIns="0" rIns="0" bIns="0" rtlCol="0" anchor="ctr"/>
          <a:lstStyle/>
          <a:p>
            <a:pPr indent="0" marL="0">
              <a:buNone/>
            </a:pPr>
            <a:r>
              <a:rPr lang="en-US" sz="1000" dirty="0">
                <a:solidFill>
                  <a:srgbClr val="F7F2E8"/>
                </a:solidFill>
                <a:latin typeface="Calibri" pitchFamily="34" charset="0"/>
                <a:ea typeface="Calibri" pitchFamily="34" charset="-122"/>
                <a:cs typeface="Calibri" pitchFamily="34" charset="-120"/>
              </a:rPr>
              <a:t>2027+</a:t>
            </a:r>
            <a:endParaRPr lang="en-US" sz="1000" dirty="0"/>
          </a:p>
        </p:txBody>
      </p:sp>
      <p:sp>
        <p:nvSpPr>
          <p:cNvPr id="20" name="Text 18"/>
          <p:cNvSpPr/>
          <p:nvPr/>
        </p:nvSpPr>
        <p:spPr>
          <a:xfrm>
            <a:off x="6309360" y="2148840"/>
            <a:ext cx="2194560" cy="365760"/>
          </a:xfrm>
          <a:prstGeom prst="rect">
            <a:avLst/>
          </a:prstGeom>
          <a:noFill/>
          <a:ln/>
        </p:spPr>
        <p:txBody>
          <a:bodyPr wrap="square" lIns="0" tIns="0" rIns="0" bIns="0" rtlCol="0" anchor="ctr"/>
          <a:lstStyle/>
          <a:p>
            <a:pPr indent="0" marL="0">
              <a:buNone/>
            </a:pPr>
            <a:r>
              <a:rPr lang="en-US" sz="1800" b="1" dirty="0">
                <a:solidFill>
                  <a:srgbClr val="232823"/>
                </a:solidFill>
                <a:latin typeface="Georgia" pitchFamily="34" charset="0"/>
                <a:ea typeface="Georgia" pitchFamily="34" charset="-122"/>
                <a:cs typeface="Georgia" pitchFamily="34" charset="-120"/>
              </a:rPr>
              <a:t>Expand</a:t>
            </a:r>
            <a:endParaRPr lang="en-US" sz="1800" dirty="0"/>
          </a:p>
        </p:txBody>
      </p:sp>
      <p:sp>
        <p:nvSpPr>
          <p:cNvPr id="21" name="Text 19"/>
          <p:cNvSpPr/>
          <p:nvPr/>
        </p:nvSpPr>
        <p:spPr>
          <a:xfrm>
            <a:off x="6309360" y="2560320"/>
            <a:ext cx="2240280" cy="20116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Expand service offerings</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Productize AI tools</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Adjacent markets</a:t>
            </a:r>
            <a:endParaRPr lang="en-US" sz="1100" dirty="0"/>
          </a:p>
          <a:p>
            <a:pPr marL="342900" indent="-342900">
              <a:spcAft>
                <a:spcPts val="400"/>
              </a:spcAft>
              <a:buSzPct val="100000"/>
              <a:buChar char="•"/>
            </a:pPr>
            <a:r>
              <a:rPr lang="en-US" sz="1100" dirty="0">
                <a:solidFill>
                  <a:srgbClr val="555555"/>
                </a:solidFill>
                <a:latin typeface="Calibri" pitchFamily="34" charset="0"/>
                <a:ea typeface="Calibri" pitchFamily="34" charset="-122"/>
                <a:cs typeface="Calibri" pitchFamily="34" charset="-120"/>
              </a:rPr>
              <a:t>White-label partnerships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48640" y="274320"/>
            <a:ext cx="4572000" cy="365760"/>
          </a:xfrm>
          <a:prstGeom prst="rect">
            <a:avLst/>
          </a:prstGeom>
          <a:noFill/>
          <a:ln/>
        </p:spPr>
        <p:txBody>
          <a:bodyPr wrap="square" lIns="0" tIns="0" rIns="0" bIns="0" rtlCol="0" anchor="ctr"/>
          <a:lstStyle/>
          <a:p>
            <a:pPr indent="0" marL="0">
              <a:buNone/>
            </a:pPr>
            <a:r>
              <a:rPr lang="en-US" sz="1200" b="1" spc="300" kern="0" dirty="0">
                <a:solidFill>
                  <a:srgbClr val="C4892A"/>
                </a:solidFill>
                <a:latin typeface="Calibri" pitchFamily="34" charset="0"/>
                <a:ea typeface="Calibri" pitchFamily="34" charset="-122"/>
                <a:cs typeface="Calibri" pitchFamily="34" charset="-120"/>
              </a:rPr>
              <a:t>REVENUE MODEL</a:t>
            </a:r>
            <a:endParaRPr lang="en-US" sz="1200" dirty="0"/>
          </a:p>
        </p:txBody>
      </p:sp>
      <p:sp>
        <p:nvSpPr>
          <p:cNvPr id="3" name="Text 1"/>
          <p:cNvSpPr/>
          <p:nvPr/>
        </p:nvSpPr>
        <p:spPr>
          <a:xfrm>
            <a:off x="548640" y="685800"/>
            <a:ext cx="5029200" cy="1005840"/>
          </a:xfrm>
          <a:prstGeom prst="rect">
            <a:avLst/>
          </a:prstGeom>
          <a:noFill/>
          <a:ln/>
        </p:spPr>
        <p:txBody>
          <a:bodyPr wrap="square" lIns="0" tIns="0" rIns="0" bIns="0" rtlCol="0" anchor="ctr"/>
          <a:lstStyle/>
          <a:p>
            <a:pPr indent="0" marL="0">
              <a:buNone/>
            </a:pPr>
            <a:r>
              <a:rPr lang="en-US" sz="3000" b="1" dirty="0">
                <a:solidFill>
                  <a:srgbClr val="232823"/>
                </a:solidFill>
                <a:latin typeface="Georgia" pitchFamily="34" charset="0"/>
                <a:ea typeface="Georgia" pitchFamily="34" charset="-122"/>
                <a:cs typeface="Georgia" pitchFamily="34" charset="-120"/>
              </a:rPr>
              <a:t>Two Revenue Streams,</a:t>
            </a:r>
            <a:endParaRPr lang="en-US" sz="3000" dirty="0"/>
          </a:p>
          <a:p>
            <a:pPr indent="0" marL="0">
              <a:buNone/>
            </a:pPr>
            <a:r>
              <a:rPr lang="en-US" sz="3000" b="1" dirty="0">
                <a:solidFill>
                  <a:srgbClr val="232823"/>
                </a:solidFill>
                <a:latin typeface="Georgia" pitchFamily="34" charset="0"/>
                <a:ea typeface="Georgia" pitchFamily="34" charset="-122"/>
                <a:cs typeface="Georgia" pitchFamily="34" charset="-120"/>
              </a:rPr>
              <a:t>Compounding Growth</a:t>
            </a:r>
            <a:endParaRPr lang="en-US" sz="3000" dirty="0"/>
          </a:p>
        </p:txBody>
      </p:sp>
      <p:sp>
        <p:nvSpPr>
          <p:cNvPr id="4" name="Shape 2"/>
          <p:cNvSpPr/>
          <p:nvPr/>
        </p:nvSpPr>
        <p:spPr>
          <a:xfrm>
            <a:off x="548640" y="1920240"/>
            <a:ext cx="393192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920240"/>
            <a:ext cx="54864" cy="1188720"/>
          </a:xfrm>
          <a:prstGeom prst="rect">
            <a:avLst/>
          </a:prstGeom>
          <a:solidFill>
            <a:srgbClr val="2A4A30"/>
          </a:solidFill>
          <a:ln/>
        </p:spPr>
      </p:sp>
      <p:pic>
        <p:nvPicPr>
          <p:cNvPr id="6" name="Image 0" descr="preencoded.png">    </p:cNvPr>
          <p:cNvPicPr>
            <a:picLocks noChangeAspect="1"/>
          </p:cNvPicPr>
          <p:nvPr/>
        </p:nvPicPr>
        <p:blipFill>
          <a:blip r:embed="rId1"/>
          <a:stretch>
            <a:fillRect/>
          </a:stretch>
        </p:blipFill>
        <p:spPr>
          <a:xfrm>
            <a:off x="822960" y="2148840"/>
            <a:ext cx="365760" cy="365760"/>
          </a:xfrm>
          <a:prstGeom prst="rect">
            <a:avLst/>
          </a:prstGeom>
        </p:spPr>
      </p:pic>
      <p:sp>
        <p:nvSpPr>
          <p:cNvPr id="7" name="Text 4"/>
          <p:cNvSpPr/>
          <p:nvPr/>
        </p:nvSpPr>
        <p:spPr>
          <a:xfrm>
            <a:off x="1371600" y="2011680"/>
            <a:ext cx="2743200" cy="320040"/>
          </a:xfrm>
          <a:prstGeom prst="rect">
            <a:avLst/>
          </a:prstGeom>
          <a:noFill/>
          <a:ln/>
        </p:spPr>
        <p:txBody>
          <a:bodyPr wrap="square" lIns="0" tIns="0" rIns="0" bIns="0" rtlCol="0" anchor="ctr"/>
          <a:lstStyle/>
          <a:p>
            <a:pPr indent="0" marL="0">
              <a:buNone/>
            </a:pPr>
            <a:r>
              <a:rPr lang="en-US" sz="1600" b="1" dirty="0">
                <a:solidFill>
                  <a:srgbClr val="232823"/>
                </a:solidFill>
                <a:latin typeface="Georgia" pitchFamily="34" charset="0"/>
                <a:ea typeface="Georgia" pitchFamily="34" charset="-122"/>
                <a:cs typeface="Georgia" pitchFamily="34" charset="-120"/>
              </a:rPr>
              <a:t>Project Revenue</a:t>
            </a:r>
            <a:endParaRPr lang="en-US" sz="1600" dirty="0"/>
          </a:p>
        </p:txBody>
      </p:sp>
      <p:sp>
        <p:nvSpPr>
          <p:cNvPr id="8" name="Text 5"/>
          <p:cNvSpPr/>
          <p:nvPr/>
        </p:nvSpPr>
        <p:spPr>
          <a:xfrm>
            <a:off x="1371600" y="2377440"/>
            <a:ext cx="2926080" cy="54864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$2,500–$7,500 per client for website builds, AI setup, and launch packages.</a:t>
            </a:r>
            <a:endParaRPr lang="en-US" sz="1100" dirty="0"/>
          </a:p>
        </p:txBody>
      </p:sp>
      <p:sp>
        <p:nvSpPr>
          <p:cNvPr id="9" name="Shape 6"/>
          <p:cNvSpPr/>
          <p:nvPr/>
        </p:nvSpPr>
        <p:spPr>
          <a:xfrm>
            <a:off x="548640" y="3291840"/>
            <a:ext cx="393192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7"/>
          <p:cNvSpPr/>
          <p:nvPr/>
        </p:nvSpPr>
        <p:spPr>
          <a:xfrm>
            <a:off x="548640" y="3291840"/>
            <a:ext cx="54864" cy="1188720"/>
          </a:xfrm>
          <a:prstGeom prst="rect">
            <a:avLst/>
          </a:prstGeom>
          <a:solidFill>
            <a:srgbClr val="C4892A"/>
          </a:solidFill>
          <a:ln/>
        </p:spPr>
      </p:sp>
      <p:pic>
        <p:nvPicPr>
          <p:cNvPr id="11" name="Image 1" descr="preencoded.png">    </p:cNvPr>
          <p:cNvPicPr>
            <a:picLocks noChangeAspect="1"/>
          </p:cNvPicPr>
          <p:nvPr/>
        </p:nvPicPr>
        <p:blipFill>
          <a:blip r:embed="rId2"/>
          <a:stretch>
            <a:fillRect/>
          </a:stretch>
        </p:blipFill>
        <p:spPr>
          <a:xfrm>
            <a:off x="822960" y="3520440"/>
            <a:ext cx="365760" cy="365760"/>
          </a:xfrm>
          <a:prstGeom prst="rect">
            <a:avLst/>
          </a:prstGeom>
        </p:spPr>
      </p:pic>
      <p:sp>
        <p:nvSpPr>
          <p:cNvPr id="12" name="Text 8"/>
          <p:cNvSpPr/>
          <p:nvPr/>
        </p:nvSpPr>
        <p:spPr>
          <a:xfrm>
            <a:off x="1371600" y="3383280"/>
            <a:ext cx="2743200" cy="320040"/>
          </a:xfrm>
          <a:prstGeom prst="rect">
            <a:avLst/>
          </a:prstGeom>
          <a:noFill/>
          <a:ln/>
        </p:spPr>
        <p:txBody>
          <a:bodyPr wrap="square" lIns="0" tIns="0" rIns="0" bIns="0" rtlCol="0" anchor="ctr"/>
          <a:lstStyle/>
          <a:p>
            <a:pPr indent="0" marL="0">
              <a:buNone/>
            </a:pPr>
            <a:r>
              <a:rPr lang="en-US" sz="1600" b="1" dirty="0">
                <a:solidFill>
                  <a:srgbClr val="232823"/>
                </a:solidFill>
                <a:latin typeface="Georgia" pitchFamily="34" charset="0"/>
                <a:ea typeface="Georgia" pitchFamily="34" charset="-122"/>
                <a:cs typeface="Georgia" pitchFamily="34" charset="-120"/>
              </a:rPr>
              <a:t>Recurring Retainers</a:t>
            </a:r>
            <a:endParaRPr lang="en-US" sz="1600" dirty="0"/>
          </a:p>
        </p:txBody>
      </p:sp>
      <p:sp>
        <p:nvSpPr>
          <p:cNvPr id="13" name="Text 9"/>
          <p:cNvSpPr/>
          <p:nvPr/>
        </p:nvSpPr>
        <p:spPr>
          <a:xfrm>
            <a:off x="1371600" y="3749040"/>
            <a:ext cx="2926080" cy="54864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$150–$500/month per client for hosting, maintenance, and AI management.</a:t>
            </a:r>
            <a:endParaRPr lang="en-US" sz="1100" dirty="0"/>
          </a:p>
        </p:txBody>
      </p:sp>
      <p:sp>
        <p:nvSpPr>
          <p:cNvPr id="14" name="Shape 10"/>
          <p:cNvSpPr/>
          <p:nvPr/>
        </p:nvSpPr>
        <p:spPr>
          <a:xfrm>
            <a:off x="4937760" y="1920240"/>
            <a:ext cx="3749040" cy="2560320"/>
          </a:xfrm>
          <a:prstGeom prst="rect">
            <a:avLst/>
          </a:prstGeom>
          <a:solidFill>
            <a:srgbClr val="2A4A30"/>
          </a:solidFill>
          <a:ln/>
          <a:effectLst>
            <a:outerShdw sx="100000" sy="100000" kx="0" ky="0" algn="bl" rotWithShape="0" blurRad="50800" dist="25400" dir="8100000">
              <a:srgbClr val="000000">
                <a:alpha val="10000"/>
              </a:srgbClr>
            </a:outerShdw>
          </a:effectLst>
        </p:spPr>
      </p:sp>
      <p:sp>
        <p:nvSpPr>
          <p:cNvPr id="15" name="Text 11"/>
          <p:cNvSpPr/>
          <p:nvPr/>
        </p:nvSpPr>
        <p:spPr>
          <a:xfrm>
            <a:off x="5212080" y="2103120"/>
            <a:ext cx="3200400" cy="320040"/>
          </a:xfrm>
          <a:prstGeom prst="rect">
            <a:avLst/>
          </a:prstGeom>
          <a:noFill/>
          <a:ln/>
        </p:spPr>
        <p:txBody>
          <a:bodyPr wrap="square" lIns="0" tIns="0" rIns="0" bIns="0" rtlCol="0" anchor="ctr"/>
          <a:lstStyle/>
          <a:p>
            <a:pPr indent="0" marL="0">
              <a:buNone/>
            </a:pPr>
            <a:r>
              <a:rPr lang="en-US" sz="1400" b="1" dirty="0">
                <a:solidFill>
                  <a:srgbClr val="C4892A"/>
                </a:solidFill>
                <a:latin typeface="Calibri" pitchFamily="34" charset="0"/>
                <a:ea typeface="Calibri" pitchFamily="34" charset="-122"/>
                <a:cs typeface="Calibri" pitchFamily="34" charset="-120"/>
              </a:rPr>
              <a:t>Revenue Projections</a:t>
            </a:r>
            <a:endParaRPr lang="en-US" sz="1400" dirty="0"/>
          </a:p>
        </p:txBody>
      </p:sp>
      <p:sp>
        <p:nvSpPr>
          <p:cNvPr id="16" name="Text 12"/>
          <p:cNvSpPr/>
          <p:nvPr/>
        </p:nvSpPr>
        <p:spPr>
          <a:xfrm>
            <a:off x="5212080" y="2560320"/>
            <a:ext cx="1371600" cy="274320"/>
          </a:xfrm>
          <a:prstGeom prst="rect">
            <a:avLst/>
          </a:prstGeom>
          <a:noFill/>
          <a:ln/>
        </p:spPr>
        <p:txBody>
          <a:bodyPr wrap="square" lIns="0" tIns="0" rIns="0" bIns="0" rtlCol="0" anchor="ctr"/>
          <a:lstStyle/>
          <a:p>
            <a:pPr indent="0" marL="0">
              <a:buNone/>
            </a:pPr>
            <a:r>
              <a:rPr lang="en-US" sz="1100" dirty="0">
                <a:solidFill>
                  <a:srgbClr val="F7F2E8"/>
                </a:solidFill>
                <a:latin typeface="Calibri" pitchFamily="34" charset="0"/>
                <a:ea typeface="Calibri" pitchFamily="34" charset="-122"/>
                <a:cs typeface="Calibri" pitchFamily="34" charset="-120"/>
              </a:rPr>
              <a:t>Year 1</a:t>
            </a:r>
            <a:endParaRPr lang="en-US" sz="1100" dirty="0"/>
          </a:p>
        </p:txBody>
      </p:sp>
      <p:sp>
        <p:nvSpPr>
          <p:cNvPr id="17" name="Text 13"/>
          <p:cNvSpPr/>
          <p:nvPr/>
        </p:nvSpPr>
        <p:spPr>
          <a:xfrm>
            <a:off x="6583680" y="2468880"/>
            <a:ext cx="1828800" cy="365760"/>
          </a:xfrm>
          <a:prstGeom prst="rect">
            <a:avLst/>
          </a:prstGeom>
          <a:noFill/>
          <a:ln/>
        </p:spPr>
        <p:txBody>
          <a:bodyPr wrap="square" lIns="0" tIns="0" rIns="0" bIns="0" rtlCol="0" anchor="ctr"/>
          <a:lstStyle/>
          <a:p>
            <a:pPr algn="r" indent="0" marL="0">
              <a:buNone/>
            </a:pPr>
            <a:r>
              <a:rPr lang="en-US" sz="2800" b="1" dirty="0">
                <a:solidFill>
                  <a:srgbClr val="C4892A"/>
                </a:solidFill>
                <a:latin typeface="Georgia" pitchFamily="34" charset="0"/>
                <a:ea typeface="Georgia" pitchFamily="34" charset="-122"/>
                <a:cs typeface="Georgia" pitchFamily="34" charset="-120"/>
              </a:rPr>
              <a:t>$150K</a:t>
            </a:r>
            <a:endParaRPr lang="en-US" sz="2800" dirty="0"/>
          </a:p>
        </p:txBody>
      </p:sp>
      <p:sp>
        <p:nvSpPr>
          <p:cNvPr id="18" name="Shape 14"/>
          <p:cNvSpPr/>
          <p:nvPr/>
        </p:nvSpPr>
        <p:spPr>
          <a:xfrm>
            <a:off x="5212080" y="2880360"/>
            <a:ext cx="1828800" cy="137160"/>
          </a:xfrm>
          <a:prstGeom prst="rect">
            <a:avLst/>
          </a:prstGeom>
          <a:solidFill>
            <a:srgbClr val="C4892A"/>
          </a:solidFill>
          <a:ln/>
        </p:spPr>
      </p:sp>
      <p:sp>
        <p:nvSpPr>
          <p:cNvPr id="19" name="Text 15"/>
          <p:cNvSpPr/>
          <p:nvPr/>
        </p:nvSpPr>
        <p:spPr>
          <a:xfrm>
            <a:off x="5212080" y="3200400"/>
            <a:ext cx="1371600" cy="274320"/>
          </a:xfrm>
          <a:prstGeom prst="rect">
            <a:avLst/>
          </a:prstGeom>
          <a:noFill/>
          <a:ln/>
        </p:spPr>
        <p:txBody>
          <a:bodyPr wrap="square" lIns="0" tIns="0" rIns="0" bIns="0" rtlCol="0" anchor="ctr"/>
          <a:lstStyle/>
          <a:p>
            <a:pPr indent="0" marL="0">
              <a:buNone/>
            </a:pPr>
            <a:r>
              <a:rPr lang="en-US" sz="1100" dirty="0">
                <a:solidFill>
                  <a:srgbClr val="F7F2E8"/>
                </a:solidFill>
                <a:latin typeface="Calibri" pitchFamily="34" charset="0"/>
                <a:ea typeface="Calibri" pitchFamily="34" charset="-122"/>
                <a:cs typeface="Calibri" pitchFamily="34" charset="-120"/>
              </a:rPr>
              <a:t>Year 2</a:t>
            </a:r>
            <a:endParaRPr lang="en-US" sz="1100" dirty="0"/>
          </a:p>
        </p:txBody>
      </p:sp>
      <p:sp>
        <p:nvSpPr>
          <p:cNvPr id="20" name="Text 16"/>
          <p:cNvSpPr/>
          <p:nvPr/>
        </p:nvSpPr>
        <p:spPr>
          <a:xfrm>
            <a:off x="6583680" y="3108960"/>
            <a:ext cx="1828800" cy="365760"/>
          </a:xfrm>
          <a:prstGeom prst="rect">
            <a:avLst/>
          </a:prstGeom>
          <a:noFill/>
          <a:ln/>
        </p:spPr>
        <p:txBody>
          <a:bodyPr wrap="square" lIns="0" tIns="0" rIns="0" bIns="0" rtlCol="0" anchor="ctr"/>
          <a:lstStyle/>
          <a:p>
            <a:pPr algn="r" indent="0" marL="0">
              <a:buNone/>
            </a:pPr>
            <a:r>
              <a:rPr lang="en-US" sz="2800" b="1" dirty="0">
                <a:solidFill>
                  <a:srgbClr val="C4892A"/>
                </a:solidFill>
                <a:latin typeface="Georgia" pitchFamily="34" charset="0"/>
                <a:ea typeface="Georgia" pitchFamily="34" charset="-122"/>
                <a:cs typeface="Georgia" pitchFamily="34" charset="-120"/>
              </a:rPr>
              <a:t>$350K</a:t>
            </a:r>
            <a:endParaRPr lang="en-US" sz="2800" dirty="0"/>
          </a:p>
        </p:txBody>
      </p:sp>
      <p:sp>
        <p:nvSpPr>
          <p:cNvPr id="21" name="Shape 17"/>
          <p:cNvSpPr/>
          <p:nvPr/>
        </p:nvSpPr>
        <p:spPr>
          <a:xfrm>
            <a:off x="5212080" y="3520440"/>
            <a:ext cx="3200400" cy="137160"/>
          </a:xfrm>
          <a:prstGeom prst="rect">
            <a:avLst/>
          </a:prstGeom>
          <a:solidFill>
            <a:srgbClr val="C4892A"/>
          </a:solidFill>
          <a:ln/>
        </p:spPr>
      </p:sp>
      <p:sp>
        <p:nvSpPr>
          <p:cNvPr id="22" name="Text 18"/>
          <p:cNvSpPr/>
          <p:nvPr/>
        </p:nvSpPr>
        <p:spPr>
          <a:xfrm>
            <a:off x="5212080" y="3794760"/>
            <a:ext cx="3200400" cy="3200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133% YoY Growth</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3657600" cy="457200"/>
          </a:xfrm>
          <a:prstGeom prst="rect">
            <a:avLst/>
          </a:prstGeom>
          <a:noFill/>
          <a:ln/>
        </p:spPr>
        <p:txBody>
          <a:bodyPr wrap="square" lIns="0" tIns="0" rIns="0" bIns="0" rtlCol="0" anchor="ctr"/>
          <a:lstStyle/>
          <a:p>
            <a:pPr indent="0" marL="0">
              <a:buNone/>
            </a:pPr>
            <a:r>
              <a:rPr lang="en-US" sz="1200" b="1" spc="300" kern="0" dirty="0">
                <a:solidFill>
                  <a:srgbClr val="C4892A"/>
                </a:solidFill>
                <a:latin typeface="Calibri" pitchFamily="34" charset="0"/>
                <a:ea typeface="Calibri" pitchFamily="34" charset="-122"/>
                <a:cs typeface="Calibri" pitchFamily="34" charset="-120"/>
              </a:rPr>
              <a:t>THE TEAM</a:t>
            </a:r>
            <a:endParaRPr lang="en-US" sz="1200" dirty="0"/>
          </a:p>
        </p:txBody>
      </p:sp>
      <p:sp>
        <p:nvSpPr>
          <p:cNvPr id="3" name="Text 1"/>
          <p:cNvSpPr/>
          <p:nvPr/>
        </p:nvSpPr>
        <p:spPr>
          <a:xfrm>
            <a:off x="548640" y="777240"/>
            <a:ext cx="7772400" cy="914400"/>
          </a:xfrm>
          <a:prstGeom prst="rect">
            <a:avLst/>
          </a:prstGeom>
          <a:noFill/>
          <a:ln/>
        </p:spPr>
        <p:txBody>
          <a:bodyPr wrap="square" lIns="0" tIns="0" rIns="0" bIns="0" rtlCol="0" anchor="ctr"/>
          <a:lstStyle/>
          <a:p>
            <a:pPr indent="0" marL="0">
              <a:buNone/>
            </a:pPr>
            <a:r>
              <a:rPr lang="en-US" sz="3200" b="1" dirty="0">
                <a:solidFill>
                  <a:srgbClr val="232823"/>
                </a:solidFill>
                <a:latin typeface="Georgia" pitchFamily="34" charset="0"/>
                <a:ea typeface="Georgia" pitchFamily="34" charset="-122"/>
                <a:cs typeface="Georgia" pitchFamily="34" charset="-120"/>
              </a:rPr>
              <a:t>Built by Someone Who</a:t>
            </a:r>
            <a:endParaRPr lang="en-US" sz="3200" dirty="0"/>
          </a:p>
          <a:p>
            <a:pPr indent="0" marL="0">
              <a:buNone/>
            </a:pPr>
            <a:r>
              <a:rPr lang="en-US" sz="3200" b="1" dirty="0">
                <a:solidFill>
                  <a:srgbClr val="232823"/>
                </a:solidFill>
                <a:latin typeface="Georgia" pitchFamily="34" charset="0"/>
                <a:ea typeface="Georgia" pitchFamily="34" charset="-122"/>
                <a:cs typeface="Georgia" pitchFamily="34" charset="-120"/>
              </a:rPr>
              <a:t>Understands Local Business</a:t>
            </a:r>
            <a:endParaRPr lang="en-US" sz="3200" dirty="0"/>
          </a:p>
        </p:txBody>
      </p:sp>
      <p:sp>
        <p:nvSpPr>
          <p:cNvPr id="4" name="Shape 2"/>
          <p:cNvSpPr/>
          <p:nvPr/>
        </p:nvSpPr>
        <p:spPr>
          <a:xfrm>
            <a:off x="548640" y="1920240"/>
            <a:ext cx="8046720" cy="2834640"/>
          </a:xfrm>
          <a:prstGeom prst="rect">
            <a:avLst/>
          </a:prstGeom>
          <a:solidFill>
            <a:srgbClr val="F7F2E8"/>
          </a:solidFill>
          <a:ln/>
          <a:effectLst>
            <a:outerShdw sx="100000" sy="100000" kx="0" ky="0" algn="bl" rotWithShape="0" blurRad="50800" dist="25400" dir="8100000">
              <a:srgbClr val="000000">
                <a:alpha val="10000"/>
              </a:srgbClr>
            </a:outerShdw>
          </a:effectLst>
        </p:spPr>
      </p:sp>
      <p:sp>
        <p:nvSpPr>
          <p:cNvPr id="5" name="Shape 3"/>
          <p:cNvSpPr/>
          <p:nvPr/>
        </p:nvSpPr>
        <p:spPr>
          <a:xfrm>
            <a:off x="914400" y="2286000"/>
            <a:ext cx="1463040" cy="1463040"/>
          </a:xfrm>
          <a:prstGeom prst="ellipse">
            <a:avLst/>
          </a:prstGeom>
          <a:solidFill>
            <a:srgbClr val="2A4A30"/>
          </a:solidFill>
          <a:ln/>
        </p:spPr>
      </p:sp>
      <p:sp>
        <p:nvSpPr>
          <p:cNvPr id="6" name="Text 4"/>
          <p:cNvSpPr/>
          <p:nvPr/>
        </p:nvSpPr>
        <p:spPr>
          <a:xfrm>
            <a:off x="914400" y="2286000"/>
            <a:ext cx="1463040" cy="1463040"/>
          </a:xfrm>
          <a:prstGeom prst="rect">
            <a:avLst/>
          </a:prstGeom>
          <a:noFill/>
          <a:ln/>
        </p:spPr>
        <p:txBody>
          <a:bodyPr wrap="square" lIns="0" tIns="0" rIns="0" bIns="0" rtlCol="0" anchor="ctr"/>
          <a:lstStyle/>
          <a:p>
            <a:pPr algn="ctr" indent="0" marL="0">
              <a:buNone/>
            </a:pPr>
            <a:r>
              <a:rPr lang="en-US" sz="4800" dirty="0">
                <a:solidFill>
                  <a:srgbClr val="FFFFFF"/>
                </a:solidFill>
                <a:latin typeface="Georgia" pitchFamily="34" charset="0"/>
                <a:ea typeface="Georgia" pitchFamily="34" charset="-122"/>
                <a:cs typeface="Georgia" pitchFamily="34" charset="-120"/>
              </a:rPr>
              <a:t>L</a:t>
            </a:r>
            <a:endParaRPr lang="en-US" sz="4800" dirty="0"/>
          </a:p>
        </p:txBody>
      </p:sp>
      <p:sp>
        <p:nvSpPr>
          <p:cNvPr id="7" name="Text 5"/>
          <p:cNvSpPr/>
          <p:nvPr/>
        </p:nvSpPr>
        <p:spPr>
          <a:xfrm>
            <a:off x="2651760" y="2240280"/>
            <a:ext cx="2743200" cy="411480"/>
          </a:xfrm>
          <a:prstGeom prst="rect">
            <a:avLst/>
          </a:prstGeom>
          <a:noFill/>
          <a:ln/>
        </p:spPr>
        <p:txBody>
          <a:bodyPr wrap="square" lIns="0" tIns="0" rIns="0" bIns="0" rtlCol="0" anchor="ctr"/>
          <a:lstStyle/>
          <a:p>
            <a:pPr indent="0" marL="0">
              <a:buNone/>
            </a:pPr>
            <a:r>
              <a:rPr lang="en-US" sz="2400" b="1" dirty="0">
                <a:solidFill>
                  <a:srgbClr val="232823"/>
                </a:solidFill>
                <a:latin typeface="Georgia" pitchFamily="34" charset="0"/>
                <a:ea typeface="Georgia" pitchFamily="34" charset="-122"/>
                <a:cs typeface="Georgia" pitchFamily="34" charset="-120"/>
              </a:rPr>
              <a:t>Liam</a:t>
            </a:r>
            <a:endParaRPr lang="en-US" sz="2400" dirty="0"/>
          </a:p>
        </p:txBody>
      </p:sp>
      <p:sp>
        <p:nvSpPr>
          <p:cNvPr id="8" name="Text 6"/>
          <p:cNvSpPr/>
          <p:nvPr/>
        </p:nvSpPr>
        <p:spPr>
          <a:xfrm>
            <a:off x="2651760" y="2606040"/>
            <a:ext cx="2743200" cy="274320"/>
          </a:xfrm>
          <a:prstGeom prst="rect">
            <a:avLst/>
          </a:prstGeom>
          <a:noFill/>
          <a:ln/>
        </p:spPr>
        <p:txBody>
          <a:bodyPr wrap="square" lIns="0" tIns="0" rIns="0" bIns="0" rtlCol="0" anchor="ctr"/>
          <a:lstStyle/>
          <a:p>
            <a:pPr indent="0" marL="0">
              <a:buNone/>
            </a:pPr>
            <a:r>
              <a:rPr lang="en-US" sz="1300" b="1" dirty="0">
                <a:solidFill>
                  <a:srgbClr val="C4892A"/>
                </a:solidFill>
                <a:latin typeface="Calibri" pitchFamily="34" charset="0"/>
                <a:ea typeface="Calibri" pitchFamily="34" charset="-122"/>
                <a:cs typeface="Calibri" pitchFamily="34" charset="-120"/>
              </a:rPr>
              <a:t>Founder &amp; Lead Developer</a:t>
            </a:r>
            <a:endParaRPr lang="en-US" sz="1300" dirty="0"/>
          </a:p>
        </p:txBody>
      </p:sp>
      <p:pic>
        <p:nvPicPr>
          <p:cNvPr id="9" name="Image 0" descr="preencoded.png">    </p:cNvPr>
          <p:cNvPicPr>
            <a:picLocks noChangeAspect="1"/>
          </p:cNvPicPr>
          <p:nvPr/>
        </p:nvPicPr>
        <p:blipFill>
          <a:blip r:embed="rId1"/>
          <a:stretch>
            <a:fillRect/>
          </a:stretch>
        </p:blipFill>
        <p:spPr>
          <a:xfrm>
            <a:off x="5943600" y="2286000"/>
            <a:ext cx="274320" cy="274320"/>
          </a:xfrm>
          <a:prstGeom prst="rect">
            <a:avLst/>
          </a:prstGeom>
        </p:spPr>
      </p:pic>
      <p:sp>
        <p:nvSpPr>
          <p:cNvPr id="10" name="Text 7"/>
          <p:cNvSpPr/>
          <p:nvPr/>
        </p:nvSpPr>
        <p:spPr>
          <a:xfrm>
            <a:off x="6355080" y="2240280"/>
            <a:ext cx="1828800" cy="32004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Web Development</a:t>
            </a:r>
            <a:endParaRPr lang="en-US" sz="1200" dirty="0"/>
          </a:p>
        </p:txBody>
      </p:sp>
      <p:pic>
        <p:nvPicPr>
          <p:cNvPr id="11" name="Image 1" descr="preencoded.png">    </p:cNvPr>
          <p:cNvPicPr>
            <a:picLocks noChangeAspect="1"/>
          </p:cNvPicPr>
          <p:nvPr/>
        </p:nvPicPr>
        <p:blipFill>
          <a:blip r:embed="rId2"/>
          <a:stretch>
            <a:fillRect/>
          </a:stretch>
        </p:blipFill>
        <p:spPr>
          <a:xfrm>
            <a:off x="5943600" y="2697480"/>
            <a:ext cx="274320" cy="274320"/>
          </a:xfrm>
          <a:prstGeom prst="rect">
            <a:avLst/>
          </a:prstGeom>
        </p:spPr>
      </p:pic>
      <p:sp>
        <p:nvSpPr>
          <p:cNvPr id="12" name="Text 8"/>
          <p:cNvSpPr/>
          <p:nvPr/>
        </p:nvSpPr>
        <p:spPr>
          <a:xfrm>
            <a:off x="6355080" y="2651760"/>
            <a:ext cx="1828800" cy="32004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AI &amp; Automation</a:t>
            </a:r>
            <a:endParaRPr lang="en-US" sz="1200" dirty="0"/>
          </a:p>
        </p:txBody>
      </p:sp>
      <p:pic>
        <p:nvPicPr>
          <p:cNvPr id="13" name="Image 2" descr="preencoded.png">    </p:cNvPr>
          <p:cNvPicPr>
            <a:picLocks noChangeAspect="1"/>
          </p:cNvPicPr>
          <p:nvPr/>
        </p:nvPicPr>
        <p:blipFill>
          <a:blip r:embed="rId3"/>
          <a:stretch>
            <a:fillRect/>
          </a:stretch>
        </p:blipFill>
        <p:spPr>
          <a:xfrm>
            <a:off x="5943600" y="3108960"/>
            <a:ext cx="274320" cy="274320"/>
          </a:xfrm>
          <a:prstGeom prst="rect">
            <a:avLst/>
          </a:prstGeom>
        </p:spPr>
      </p:pic>
      <p:sp>
        <p:nvSpPr>
          <p:cNvPr id="14" name="Text 9"/>
          <p:cNvSpPr/>
          <p:nvPr/>
        </p:nvSpPr>
        <p:spPr>
          <a:xfrm>
            <a:off x="6355080" y="3063240"/>
            <a:ext cx="1828800" cy="32004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Photography</a:t>
            </a:r>
            <a:endParaRPr lang="en-US" sz="1200" dirty="0"/>
          </a:p>
        </p:txBody>
      </p:sp>
      <p:pic>
        <p:nvPicPr>
          <p:cNvPr id="15" name="Image 3" descr="preencoded.png">    </p:cNvPr>
          <p:cNvPicPr>
            <a:picLocks noChangeAspect="1"/>
          </p:cNvPicPr>
          <p:nvPr/>
        </p:nvPicPr>
        <p:blipFill>
          <a:blip r:embed="rId4"/>
          <a:stretch>
            <a:fillRect/>
          </a:stretch>
        </p:blipFill>
        <p:spPr>
          <a:xfrm>
            <a:off x="5943600" y="3520440"/>
            <a:ext cx="274320" cy="274320"/>
          </a:xfrm>
          <a:prstGeom prst="rect">
            <a:avLst/>
          </a:prstGeom>
        </p:spPr>
      </p:pic>
      <p:sp>
        <p:nvSpPr>
          <p:cNvPr id="16" name="Text 10"/>
          <p:cNvSpPr/>
          <p:nvPr/>
        </p:nvSpPr>
        <p:spPr>
          <a:xfrm>
            <a:off x="6355080" y="3474720"/>
            <a:ext cx="1828800" cy="32004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Business Strategy</a:t>
            </a:r>
            <a:endParaRPr lang="en-US" sz="1200" dirty="0"/>
          </a:p>
        </p:txBody>
      </p:sp>
      <p:sp>
        <p:nvSpPr>
          <p:cNvPr id="17" name="Text 11"/>
          <p:cNvSpPr/>
          <p:nvPr/>
        </p:nvSpPr>
        <p:spPr>
          <a:xfrm>
            <a:off x="914400" y="3886200"/>
            <a:ext cx="7315200" cy="731520"/>
          </a:xfrm>
          <a:prstGeom prst="rect">
            <a:avLst/>
          </a:prstGeom>
          <a:noFill/>
          <a:ln/>
        </p:spPr>
        <p:txBody>
          <a:bodyPr wrap="square" lIns="0" tIns="0" rIns="0" bIns="0" rtlCol="0" anchor="ctr"/>
          <a:lstStyle/>
          <a:p>
            <a:pPr indent="0" marL="0">
              <a:buNone/>
            </a:pPr>
            <a:r>
              <a:rPr lang="en-US" sz="1200" dirty="0">
                <a:solidFill>
                  <a:srgbClr val="555555"/>
                </a:solidFill>
                <a:latin typeface="Calibri" pitchFamily="34" charset="0"/>
                <a:ea typeface="Calibri" pitchFamily="34" charset="-122"/>
                <a:cs typeface="Calibri" pitchFamily="34" charset="-120"/>
              </a:rPr>
              <a:t>Background in photography gives a unique understanding of local service businesses and their needs. Combines technical development expertise with AI specialization and a creative eye for design that resonates with real-world customers.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A4A30"/>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C4892A"/>
          </a:solidFill>
          <a:ln/>
        </p:spPr>
      </p:sp>
      <p:sp>
        <p:nvSpPr>
          <p:cNvPr id="3" name="Text 1"/>
          <p:cNvSpPr/>
          <p:nvPr/>
        </p:nvSpPr>
        <p:spPr>
          <a:xfrm>
            <a:off x="548640" y="914400"/>
            <a:ext cx="7772400" cy="128016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LET'S BUILD</a:t>
            </a:r>
            <a:endParaRPr lang="en-US" sz="4400" dirty="0"/>
          </a:p>
          <a:p>
            <a:pPr indent="0" marL="0">
              <a:buNone/>
            </a:pPr>
            <a:r>
              <a:rPr lang="en-US" sz="4400" b="1" dirty="0">
                <a:solidFill>
                  <a:srgbClr val="FFFFFF"/>
                </a:solidFill>
                <a:latin typeface="Georgia" pitchFamily="34" charset="0"/>
                <a:ea typeface="Georgia" pitchFamily="34" charset="-122"/>
                <a:cs typeface="Georgia" pitchFamily="34" charset="-120"/>
              </a:rPr>
              <a:t>SOMETHING GREAT</a:t>
            </a:r>
            <a:endParaRPr lang="en-US" sz="4400" dirty="0"/>
          </a:p>
        </p:txBody>
      </p:sp>
      <p:sp>
        <p:nvSpPr>
          <p:cNvPr id="4" name="Shape 2"/>
          <p:cNvSpPr/>
          <p:nvPr/>
        </p:nvSpPr>
        <p:spPr>
          <a:xfrm>
            <a:off x="548640" y="2286000"/>
            <a:ext cx="2286000" cy="36576"/>
          </a:xfrm>
          <a:prstGeom prst="rect">
            <a:avLst/>
          </a:prstGeom>
          <a:solidFill>
            <a:srgbClr val="C4892A"/>
          </a:solidFill>
          <a:ln/>
        </p:spPr>
      </p:sp>
      <p:sp>
        <p:nvSpPr>
          <p:cNvPr id="5" name="Text 3"/>
          <p:cNvSpPr/>
          <p:nvPr/>
        </p:nvSpPr>
        <p:spPr>
          <a:xfrm>
            <a:off x="548640" y="2560320"/>
            <a:ext cx="5486400" cy="457200"/>
          </a:xfrm>
          <a:prstGeom prst="rect">
            <a:avLst/>
          </a:prstGeom>
          <a:noFill/>
          <a:ln/>
        </p:spPr>
        <p:txBody>
          <a:bodyPr wrap="square" lIns="0" tIns="0" rIns="0" bIns="0" rtlCol="0" anchor="ctr"/>
          <a:lstStyle/>
          <a:p>
            <a:pPr indent="0" marL="0">
              <a:buNone/>
            </a:pPr>
            <a:r>
              <a:rPr lang="en-US" sz="1600" i="1" dirty="0">
                <a:solidFill>
                  <a:srgbClr val="F7F2E8"/>
                </a:solidFill>
                <a:latin typeface="Calibri" pitchFamily="34" charset="0"/>
                <a:ea typeface="Calibri" pitchFamily="34" charset="-122"/>
                <a:cs typeface="Calibri" pitchFamily="34" charset="-120"/>
              </a:rPr>
              <a:t>Ready to modernize your online presence and start capturing more leads?</a:t>
            </a:r>
            <a:endParaRPr lang="en-US" sz="1600" dirty="0"/>
          </a:p>
        </p:txBody>
      </p:sp>
      <p:pic>
        <p:nvPicPr>
          <p:cNvPr id="6" name="Image 0" descr="preencoded.png">    </p:cNvPr>
          <p:cNvPicPr>
            <a:picLocks noChangeAspect="1"/>
          </p:cNvPicPr>
          <p:nvPr/>
        </p:nvPicPr>
        <p:blipFill>
          <a:blip r:embed="rId1"/>
          <a:stretch>
            <a:fillRect/>
          </a:stretch>
        </p:blipFill>
        <p:spPr>
          <a:xfrm>
            <a:off x="548640" y="3337560"/>
            <a:ext cx="320040" cy="320040"/>
          </a:xfrm>
          <a:prstGeom prst="rect">
            <a:avLst/>
          </a:prstGeom>
        </p:spPr>
      </p:pic>
      <p:sp>
        <p:nvSpPr>
          <p:cNvPr id="7" name="Text 4"/>
          <p:cNvSpPr/>
          <p:nvPr/>
        </p:nvSpPr>
        <p:spPr>
          <a:xfrm>
            <a:off x="1051560" y="3291840"/>
            <a:ext cx="45720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liambf1351@gmail.com</a:t>
            </a:r>
            <a:endParaRPr lang="en-US" sz="1500" dirty="0"/>
          </a:p>
        </p:txBody>
      </p:sp>
      <p:pic>
        <p:nvPicPr>
          <p:cNvPr id="8" name="Image 1" descr="preencoded.png">    </p:cNvPr>
          <p:cNvPicPr>
            <a:picLocks noChangeAspect="1"/>
          </p:cNvPicPr>
          <p:nvPr/>
        </p:nvPicPr>
        <p:blipFill>
          <a:blip r:embed="rId2"/>
          <a:stretch>
            <a:fillRect/>
          </a:stretch>
        </p:blipFill>
        <p:spPr>
          <a:xfrm>
            <a:off x="548640" y="3794760"/>
            <a:ext cx="320040" cy="320040"/>
          </a:xfrm>
          <a:prstGeom prst="rect">
            <a:avLst/>
          </a:prstGeom>
        </p:spPr>
      </p:pic>
      <p:sp>
        <p:nvSpPr>
          <p:cNvPr id="9" name="Text 5"/>
          <p:cNvSpPr/>
          <p:nvPr/>
        </p:nvSpPr>
        <p:spPr>
          <a:xfrm>
            <a:off x="1051560" y="3749040"/>
            <a:ext cx="45720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alderashdigital.com</a:t>
            </a:r>
            <a:endParaRPr lang="en-US" sz="1500" dirty="0"/>
          </a:p>
        </p:txBody>
      </p:sp>
      <p:pic>
        <p:nvPicPr>
          <p:cNvPr id="10" name="Image 2" descr="preencoded.png">    </p:cNvPr>
          <p:cNvPicPr>
            <a:picLocks noChangeAspect="1"/>
          </p:cNvPicPr>
          <p:nvPr/>
        </p:nvPicPr>
        <p:blipFill>
          <a:blip r:embed="rId3"/>
          <a:stretch>
            <a:fillRect/>
          </a:stretch>
        </p:blipFill>
        <p:spPr>
          <a:xfrm>
            <a:off x="548640" y="4251960"/>
            <a:ext cx="320040" cy="320040"/>
          </a:xfrm>
          <a:prstGeom prst="rect">
            <a:avLst/>
          </a:prstGeom>
        </p:spPr>
      </p:pic>
      <p:sp>
        <p:nvSpPr>
          <p:cNvPr id="11" name="Text 6"/>
          <p:cNvSpPr/>
          <p:nvPr/>
        </p:nvSpPr>
        <p:spPr>
          <a:xfrm>
            <a:off x="1051560" y="4206240"/>
            <a:ext cx="45720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Hudson Valley, New York</a:t>
            </a:r>
            <a:endParaRPr lang="en-US" sz="1500" dirty="0"/>
          </a:p>
        </p:txBody>
      </p:sp>
      <p:sp>
        <p:nvSpPr>
          <p:cNvPr id="12" name="Text 7"/>
          <p:cNvSpPr/>
          <p:nvPr/>
        </p:nvSpPr>
        <p:spPr>
          <a:xfrm>
            <a:off x="548640" y="4572000"/>
            <a:ext cx="4572000" cy="320040"/>
          </a:xfrm>
          <a:prstGeom prst="rect">
            <a:avLst/>
          </a:prstGeom>
          <a:noFill/>
          <a:ln/>
        </p:spPr>
        <p:txBody>
          <a:bodyPr wrap="square" lIns="0" tIns="0" rIns="0" bIns="0" rtlCol="0" anchor="ctr"/>
          <a:lstStyle/>
          <a:p>
            <a:pPr indent="0" marL="0">
              <a:buNone/>
            </a:pPr>
            <a:r>
              <a:rPr lang="en-US" sz="1200" dirty="0">
                <a:solidFill>
                  <a:srgbClr val="C4892A"/>
                </a:solidFill>
                <a:latin typeface="Georgia" pitchFamily="34" charset="0"/>
                <a:ea typeface="Georgia" pitchFamily="34" charset="-122"/>
                <a:cs typeface="Georgia" pitchFamily="34" charset="-120"/>
              </a:rPr>
              <a:t>Alder &amp; Ash Digital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Alder &amp; Ash Digital - Pitch Deck</dc:title>
  <dc:subject>PptxGenJS Presentation</dc:subject>
  <dc:creator>Liam</dc:creator>
  <cp:lastModifiedBy>Liam</cp:lastModifiedBy>
  <cp:revision>1</cp:revision>
  <dcterms:created xsi:type="dcterms:W3CDTF">2026-03-26T00:40:35Z</dcterms:created>
  <dcterms:modified xsi:type="dcterms:W3CDTF">2026-03-26T00:40:35Z</dcterms:modified>
</cp:coreProperties>
</file>